
<file path=[Content_Types].xml><?xml version="1.0" encoding="utf-8"?>
<Types xmlns="http://schemas.openxmlformats.org/package/2006/content-types">
  <Default Extension="vml" ContentType="application/vnd.openxmlformats-officedocument.vmlDrawing"/>
  <Default Extension="docx" ContentType="application/vnd.openxmlformats-officedocument.wordprocessingml.documen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61" r:id="rId6"/>
    <p:sldId id="262" r:id="rId7"/>
    <p:sldId id="263" r:id="rId8"/>
    <p:sldId id="264" r:id="rId9"/>
    <p:sldId id="265" r:id="rId10"/>
    <p:sldId id="260" r:id="rId11"/>
  </p:sldIdLst>
  <p:sldSz cx="9144000" cy="5143500"/>
  <p:notesSz cx="6858000" cy="9144000"/>
  <p:embeddedFontLst>
    <p:embeddedFont>
      <p:font typeface="Assistant"/>
      <p:regular r:id="rId15"/>
    </p:embeddedFont>
    <p:embeddedFont>
      <p:font typeface="Arial Black" panose="020B0A04020102020204" charset="0"/>
      <p:bold r:id="rId16"/>
    </p:embeddedFont>
    <p:embeddedFont>
      <p:font typeface="Calibri" panose="020F0502020204030204" charset="0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ABFCF23-3B69-468F-B69F-88F6DE6A72F2}" styleName="中度样式 1 - 强调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0" Type="http://schemas.openxmlformats.org/officeDocument/2006/relationships/font" Target="fonts/font6.fntdata"/><Relationship Id="rId2" Type="http://schemas.openxmlformats.org/officeDocument/2006/relationships/theme" Target="theme/theme1.xml"/><Relationship Id="rId19" Type="http://schemas.openxmlformats.org/officeDocument/2006/relationships/font" Target="fonts/font5.fntdata"/><Relationship Id="rId18" Type="http://schemas.openxmlformats.org/officeDocument/2006/relationships/font" Target="fonts/font4.fntdata"/><Relationship Id="rId17" Type="http://schemas.openxmlformats.org/officeDocument/2006/relationships/font" Target="fonts/font3.fntdata"/><Relationship Id="rId16" Type="http://schemas.openxmlformats.org/officeDocument/2006/relationships/font" Target="fonts/font2.fntdata"/><Relationship Id="rId15" Type="http://schemas.openxmlformats.org/officeDocument/2006/relationships/font" Target="fonts/font1.fntdata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●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○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■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●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○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■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●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○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■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2" name="Google Shape;132;p1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1" name="Google Shape;141;p2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1" name="Google Shape;141;p2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1" name="Google Shape;141;p2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1" name="Google Shape;141;p2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1" name="Google Shape;141;p2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1" name="Google Shape;141;p2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4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6" name="Google Shape;166;p4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 1">
  <p:cSld name="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 txBox="1"/>
          <p:nvPr>
            <p:ph type="ctrTitle"/>
          </p:nvPr>
        </p:nvSpPr>
        <p:spPr>
          <a:xfrm>
            <a:off x="311700" y="1239060"/>
            <a:ext cx="6089100" cy="17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type="subTitle" idx="1"/>
          </p:nvPr>
        </p:nvSpPr>
        <p:spPr>
          <a:xfrm>
            <a:off x="311700" y="3015350"/>
            <a:ext cx="60891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grpSp>
        <p:nvGrpSpPr>
          <p:cNvPr id="16" name="Google Shape;16;p2"/>
          <p:cNvGrpSpPr/>
          <p:nvPr/>
        </p:nvGrpSpPr>
        <p:grpSpPr>
          <a:xfrm>
            <a:off x="311726" y="342910"/>
            <a:ext cx="2560425" cy="520904"/>
            <a:chOff x="311726" y="342910"/>
            <a:chExt cx="2560425" cy="520904"/>
          </a:xfrm>
        </p:grpSpPr>
        <p:sp>
          <p:nvSpPr>
            <p:cNvPr id="17" name="Google Shape;17;p2"/>
            <p:cNvSpPr/>
            <p:nvPr/>
          </p:nvSpPr>
          <p:spPr>
            <a:xfrm>
              <a:off x="311726" y="342910"/>
              <a:ext cx="2560425" cy="520904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pic>
          <p:nvPicPr>
            <p:cNvPr id="18" name="Google Shape;18;p2"/>
            <p:cNvPicPr preferRelativeResize="0"/>
            <p:nvPr/>
          </p:nvPicPr>
          <p:blipFill rotWithShape="1">
            <a:blip r:embed="rId2"/>
            <a:srcRect l="377" r="387"/>
            <a:stretch>
              <a:fillRect/>
            </a:stretch>
          </p:blipFill>
          <p:spPr>
            <a:xfrm>
              <a:off x="391788" y="382839"/>
              <a:ext cx="2400300" cy="44104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" name="Google Shape;19;p2"/>
          <p:cNvSpPr/>
          <p:nvPr/>
        </p:nvSpPr>
        <p:spPr>
          <a:xfrm>
            <a:off x="8417710" y="342892"/>
            <a:ext cx="412800" cy="57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0" name="Google Shape;20;p2"/>
          <p:cNvSpPr/>
          <p:nvPr/>
        </p:nvSpPr>
        <p:spPr>
          <a:xfrm>
            <a:off x="7000" y="-7000"/>
            <a:ext cx="9144000" cy="255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1" name="Google Shape;21;p2"/>
          <p:cNvSpPr/>
          <p:nvPr/>
        </p:nvSpPr>
        <p:spPr>
          <a:xfrm>
            <a:off x="0" y="0"/>
            <a:ext cx="219600" cy="5154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2" name="Google Shape;22;p2"/>
          <p:cNvSpPr/>
          <p:nvPr/>
        </p:nvSpPr>
        <p:spPr>
          <a:xfrm>
            <a:off x="8931400" y="0"/>
            <a:ext cx="219600" cy="5154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3" name="Google Shape;23;p2"/>
          <p:cNvSpPr/>
          <p:nvPr/>
        </p:nvSpPr>
        <p:spPr>
          <a:xfrm>
            <a:off x="7000" y="4798125"/>
            <a:ext cx="9144000" cy="356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4" name="Google Shape;24;p2"/>
          <p:cNvSpPr/>
          <p:nvPr/>
        </p:nvSpPr>
        <p:spPr>
          <a:xfrm>
            <a:off x="6400750" y="2400375"/>
            <a:ext cx="2743242" cy="2743120"/>
          </a:xfrm>
          <a:custGeom>
            <a:avLst/>
            <a:gdLst/>
            <a:ahLst/>
            <a:cxnLst/>
            <a:rect l="l" t="t" r="r" b="b"/>
            <a:pathLst>
              <a:path w="73158" h="73145" extrusionOk="0">
                <a:moveTo>
                  <a:pt x="73158" y="73107"/>
                </a:moveTo>
                <a:lnTo>
                  <a:pt x="73158" y="0"/>
                </a:lnTo>
                <a:lnTo>
                  <a:pt x="0" y="7314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25" name="Google Shape;25;p2"/>
          <p:cNvSpPr txBox="1"/>
          <p:nvPr/>
        </p:nvSpPr>
        <p:spPr>
          <a:xfrm rot="-2700000">
            <a:off x="6647467" y="3651017"/>
            <a:ext cx="2757716" cy="554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 panose="020B0604020202020204"/>
              <a:buNone/>
            </a:pPr>
            <a:r>
              <a:rPr lang="en-GB" sz="1000" b="1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We use tech to connect human potential and opportunity with dignity &amp; humility   </a:t>
            </a:r>
            <a:endParaRPr sz="1000" b="1" i="0" u="none" strike="noStrike" cap="none">
              <a:solidFill>
                <a:schemeClr val="lt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26" name="Google Shape;26;p2"/>
          <p:cNvSpPr/>
          <p:nvPr/>
        </p:nvSpPr>
        <p:spPr>
          <a:xfrm>
            <a:off x="8414775" y="4244650"/>
            <a:ext cx="418647" cy="418572"/>
          </a:xfrm>
          <a:custGeom>
            <a:avLst/>
            <a:gdLst/>
            <a:ahLst/>
            <a:cxnLst/>
            <a:rect l="l" t="t" r="r" b="b"/>
            <a:pathLst>
              <a:path w="73158" h="73145" extrusionOk="0">
                <a:moveTo>
                  <a:pt x="73158" y="73107"/>
                </a:moveTo>
                <a:lnTo>
                  <a:pt x="73158" y="0"/>
                </a:lnTo>
                <a:lnTo>
                  <a:pt x="0" y="73145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 1">
  <p:cSld name="SECTION_HEADER">
    <p:bg>
      <p:bgPr>
        <a:noFill/>
        <a:effectLst/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9" name="Google Shape;29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" name="Google Shape;30;p3"/>
          <p:cNvSpPr txBox="1"/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matchingName="Title and two columns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"/>
          <p:cNvSpPr txBox="1"/>
          <p:nvPr>
            <p:ph type="title"/>
          </p:nvPr>
        </p:nvSpPr>
        <p:spPr>
          <a:xfrm>
            <a:off x="311700" y="342900"/>
            <a:ext cx="81471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4"/>
          <p:cNvSpPr txBox="1"/>
          <p:nvPr>
            <p:ph type="body" idx="1"/>
          </p:nvPr>
        </p:nvSpPr>
        <p:spPr>
          <a:xfrm>
            <a:off x="311700" y="1005850"/>
            <a:ext cx="3999900" cy="3657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4"/>
          <p:cNvSpPr txBox="1"/>
          <p:nvPr>
            <p:ph type="body" idx="2"/>
          </p:nvPr>
        </p:nvSpPr>
        <p:spPr>
          <a:xfrm>
            <a:off x="4832400" y="1005850"/>
            <a:ext cx="3999900" cy="3657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4"/>
          <p:cNvSpPr txBox="1"/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5"/>
          <p:cNvSpPr txBox="1"/>
          <p:nvPr>
            <p:ph type="title"/>
          </p:nvPr>
        </p:nvSpPr>
        <p:spPr>
          <a:xfrm>
            <a:off x="311700" y="342900"/>
            <a:ext cx="81471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_AND_TWO_COLUMNS_1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6"/>
          <p:cNvSpPr txBox="1"/>
          <p:nvPr>
            <p:ph type="title"/>
          </p:nvPr>
        </p:nvSpPr>
        <p:spPr>
          <a:xfrm>
            <a:off x="311700" y="342900"/>
            <a:ext cx="81471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type="body" idx="1"/>
          </p:nvPr>
        </p:nvSpPr>
        <p:spPr>
          <a:xfrm>
            <a:off x="311700" y="1005850"/>
            <a:ext cx="2679600" cy="3657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6"/>
          <p:cNvSpPr txBox="1"/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sp>
        <p:nvSpPr>
          <p:cNvPr id="43" name="Google Shape;43;p6"/>
          <p:cNvSpPr txBox="1"/>
          <p:nvPr>
            <p:ph type="body" idx="2"/>
          </p:nvPr>
        </p:nvSpPr>
        <p:spPr>
          <a:xfrm>
            <a:off x="6152700" y="1005850"/>
            <a:ext cx="2679600" cy="3657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4" name="Google Shape;44;p6"/>
          <p:cNvSpPr txBox="1"/>
          <p:nvPr>
            <p:ph type="body" idx="3"/>
          </p:nvPr>
        </p:nvSpPr>
        <p:spPr>
          <a:xfrm>
            <a:off x="3232200" y="1005850"/>
            <a:ext cx="2679600" cy="3657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2">
  <p:cSld name="TITLE_1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ctrTitle"/>
          </p:nvPr>
        </p:nvSpPr>
        <p:spPr>
          <a:xfrm>
            <a:off x="311725" y="1243584"/>
            <a:ext cx="6089100" cy="17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47" name="Google Shape;47;p7"/>
          <p:cNvSpPr txBox="1"/>
          <p:nvPr>
            <p:ph type="subTitle" idx="1"/>
          </p:nvPr>
        </p:nvSpPr>
        <p:spPr>
          <a:xfrm>
            <a:off x="311725" y="3019874"/>
            <a:ext cx="60891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48" name="Google Shape;48;p7"/>
          <p:cNvSpPr txBox="1"/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sp>
        <p:nvSpPr>
          <p:cNvPr id="49" name="Google Shape;49;p7"/>
          <p:cNvSpPr/>
          <p:nvPr/>
        </p:nvSpPr>
        <p:spPr>
          <a:xfrm>
            <a:off x="0" y="1243584"/>
            <a:ext cx="128100" cy="2568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0" name="Google Shape;50;p7"/>
          <p:cNvSpPr/>
          <p:nvPr/>
        </p:nvSpPr>
        <p:spPr>
          <a:xfrm>
            <a:off x="6400750" y="2400375"/>
            <a:ext cx="2743242" cy="2743120"/>
          </a:xfrm>
          <a:custGeom>
            <a:avLst/>
            <a:gdLst/>
            <a:ahLst/>
            <a:cxnLst/>
            <a:rect l="l" t="t" r="r" b="b"/>
            <a:pathLst>
              <a:path w="73158" h="73145" extrusionOk="0">
                <a:moveTo>
                  <a:pt x="73158" y="73107"/>
                </a:moveTo>
                <a:lnTo>
                  <a:pt x="73158" y="0"/>
                </a:lnTo>
                <a:lnTo>
                  <a:pt x="0" y="7314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1" name="Google Shape;51;p7"/>
          <p:cNvSpPr txBox="1"/>
          <p:nvPr/>
        </p:nvSpPr>
        <p:spPr>
          <a:xfrm rot="-2700000">
            <a:off x="6647467" y="3651017"/>
            <a:ext cx="2757716" cy="554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5"/>
              <a:buFont typeface="Arial" panose="020B0604020202020204"/>
              <a:buNone/>
            </a:pPr>
            <a:r>
              <a:rPr lang="en-GB" sz="1000" b="1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We use tech to connect human potential and opportunity with dignity &amp; humility   </a:t>
            </a:r>
            <a:endParaRPr sz="1000" b="1" i="0" u="none" strike="noStrike" cap="none">
              <a:solidFill>
                <a:schemeClr val="lt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52" name="Google Shape;52;p7"/>
          <p:cNvSpPr/>
          <p:nvPr/>
        </p:nvSpPr>
        <p:spPr>
          <a:xfrm>
            <a:off x="8414775" y="4244650"/>
            <a:ext cx="418647" cy="418572"/>
          </a:xfrm>
          <a:custGeom>
            <a:avLst/>
            <a:gdLst/>
            <a:ahLst/>
            <a:cxnLst/>
            <a:rect l="l" t="t" r="r" b="b"/>
            <a:pathLst>
              <a:path w="73158" h="73145" extrusionOk="0">
                <a:moveTo>
                  <a:pt x="73158" y="73107"/>
                </a:moveTo>
                <a:lnTo>
                  <a:pt x="73158" y="0"/>
                </a:lnTo>
                <a:lnTo>
                  <a:pt x="0" y="73145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</p:sp>
      <p:sp>
        <p:nvSpPr>
          <p:cNvPr id="53" name="Google Shape;53;p7"/>
          <p:cNvSpPr/>
          <p:nvPr/>
        </p:nvSpPr>
        <p:spPr>
          <a:xfrm>
            <a:off x="8417710" y="342892"/>
            <a:ext cx="412800" cy="57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grpSp>
        <p:nvGrpSpPr>
          <p:cNvPr id="54" name="Google Shape;54;p7"/>
          <p:cNvGrpSpPr/>
          <p:nvPr/>
        </p:nvGrpSpPr>
        <p:grpSpPr>
          <a:xfrm>
            <a:off x="311726" y="342910"/>
            <a:ext cx="2560500" cy="520800"/>
            <a:chOff x="311726" y="342910"/>
            <a:chExt cx="2560500" cy="520800"/>
          </a:xfrm>
        </p:grpSpPr>
        <p:sp>
          <p:nvSpPr>
            <p:cNvPr id="55" name="Google Shape;55;p7"/>
            <p:cNvSpPr/>
            <p:nvPr/>
          </p:nvSpPr>
          <p:spPr>
            <a:xfrm>
              <a:off x="311726" y="342910"/>
              <a:ext cx="2560500" cy="5208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pic>
          <p:nvPicPr>
            <p:cNvPr id="56" name="Google Shape;56;p7"/>
            <p:cNvPicPr preferRelativeResize="0"/>
            <p:nvPr/>
          </p:nvPicPr>
          <p:blipFill rotWithShape="1">
            <a:blip r:embed="rId2"/>
            <a:srcRect l="377" r="387"/>
            <a:stretch>
              <a:fillRect/>
            </a:stretch>
          </p:blipFill>
          <p:spPr>
            <a:xfrm>
              <a:off x="391788" y="382839"/>
              <a:ext cx="2400300" cy="44104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2">
  <p:cSld name="SECTION_HEADER_1">
    <p:bg>
      <p:bgPr>
        <a:noFill/>
        <a:effectLst/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8"/>
          <p:cNvSpPr/>
          <p:nvPr/>
        </p:nvSpPr>
        <p:spPr>
          <a:xfrm>
            <a:off x="7000" y="4663200"/>
            <a:ext cx="9144000" cy="491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9" name="Google Shape;59;p8"/>
          <p:cNvSpPr/>
          <p:nvPr/>
        </p:nvSpPr>
        <p:spPr>
          <a:xfrm>
            <a:off x="7000" y="-7000"/>
            <a:ext cx="9144000" cy="349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0" name="Google Shape;60;p8"/>
          <p:cNvSpPr/>
          <p:nvPr/>
        </p:nvSpPr>
        <p:spPr>
          <a:xfrm>
            <a:off x="0" y="0"/>
            <a:ext cx="311700" cy="5154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1" name="Google Shape;61;p8"/>
          <p:cNvSpPr/>
          <p:nvPr/>
        </p:nvSpPr>
        <p:spPr>
          <a:xfrm>
            <a:off x="8839300" y="0"/>
            <a:ext cx="311700" cy="5154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2" name="Google Shape;62;p8"/>
          <p:cNvSpPr txBox="1"/>
          <p:nvPr>
            <p:ph type="title"/>
          </p:nvPr>
        </p:nvSpPr>
        <p:spPr>
          <a:xfrm>
            <a:off x="311700" y="214884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3" name="Google Shape;63;p8"/>
          <p:cNvSpPr txBox="1"/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2">
  <p:cSld name="SECTION_HEADER_1_1">
    <p:bg>
      <p:bgPr>
        <a:noFill/>
        <a:effectLst/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9"/>
          <p:cNvSpPr/>
          <p:nvPr/>
        </p:nvSpPr>
        <p:spPr>
          <a:xfrm>
            <a:off x="7000" y="4663225"/>
            <a:ext cx="9144000" cy="4917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6" name="Google Shape;66;p9"/>
          <p:cNvSpPr/>
          <p:nvPr/>
        </p:nvSpPr>
        <p:spPr>
          <a:xfrm>
            <a:off x="7000" y="-7000"/>
            <a:ext cx="9144000" cy="3498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7" name="Google Shape;67;p9"/>
          <p:cNvSpPr/>
          <p:nvPr/>
        </p:nvSpPr>
        <p:spPr>
          <a:xfrm>
            <a:off x="0" y="0"/>
            <a:ext cx="311700" cy="51549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8" name="Google Shape;68;p9"/>
          <p:cNvSpPr/>
          <p:nvPr/>
        </p:nvSpPr>
        <p:spPr>
          <a:xfrm>
            <a:off x="8839300" y="0"/>
            <a:ext cx="311700" cy="51549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9" name="Google Shape;69;p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70" name="Google Shape;70;p9"/>
          <p:cNvSpPr txBox="1"/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Title and body 1">
  <p:cSld name="TITLE_AND_BODY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0"/>
          <p:cNvSpPr txBox="1"/>
          <p:nvPr>
            <p:ph type="title"/>
          </p:nvPr>
        </p:nvSpPr>
        <p:spPr>
          <a:xfrm>
            <a:off x="311700" y="342900"/>
            <a:ext cx="81471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3" name="Google Shape;73;p10"/>
          <p:cNvSpPr txBox="1"/>
          <p:nvPr>
            <p:ph type="body" idx="1"/>
          </p:nvPr>
        </p:nvSpPr>
        <p:spPr>
          <a:xfrm>
            <a:off x="311700" y="915600"/>
            <a:ext cx="8520600" cy="37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4" name="Google Shape;74;p10"/>
          <p:cNvSpPr txBox="1"/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2">
  <p:cSld name="TITLE_AND_BODY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1"/>
          <p:cNvSpPr/>
          <p:nvPr/>
        </p:nvSpPr>
        <p:spPr>
          <a:xfrm>
            <a:off x="7000" y="4663225"/>
            <a:ext cx="9144000" cy="491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7" name="Google Shape;77;p11"/>
          <p:cNvSpPr/>
          <p:nvPr/>
        </p:nvSpPr>
        <p:spPr>
          <a:xfrm>
            <a:off x="7000" y="-7000"/>
            <a:ext cx="9144000" cy="349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8" name="Google Shape;78;p11"/>
          <p:cNvSpPr/>
          <p:nvPr/>
        </p:nvSpPr>
        <p:spPr>
          <a:xfrm>
            <a:off x="0" y="0"/>
            <a:ext cx="311700" cy="51549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9" name="Google Shape;79;p11"/>
          <p:cNvSpPr/>
          <p:nvPr/>
        </p:nvSpPr>
        <p:spPr>
          <a:xfrm>
            <a:off x="8839300" y="0"/>
            <a:ext cx="311700" cy="51549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0" name="Google Shape;80;p11"/>
          <p:cNvSpPr txBox="1"/>
          <p:nvPr>
            <p:ph type="title"/>
          </p:nvPr>
        </p:nvSpPr>
        <p:spPr>
          <a:xfrm>
            <a:off x="311700" y="342900"/>
            <a:ext cx="81471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1" name="Google Shape;81;p11"/>
          <p:cNvSpPr txBox="1"/>
          <p:nvPr>
            <p:ph type="body" idx="1"/>
          </p:nvPr>
        </p:nvSpPr>
        <p:spPr>
          <a:xfrm>
            <a:off x="311700" y="915600"/>
            <a:ext cx="8520600" cy="37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2" name="Google Shape;82;p11"/>
          <p:cNvSpPr txBox="1"/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3">
  <p:cSld name="TITLE_AND_BODY_1_1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2"/>
          <p:cNvSpPr/>
          <p:nvPr/>
        </p:nvSpPr>
        <p:spPr>
          <a:xfrm>
            <a:off x="7000" y="4663225"/>
            <a:ext cx="9144000" cy="4917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5" name="Google Shape;85;p12"/>
          <p:cNvSpPr/>
          <p:nvPr/>
        </p:nvSpPr>
        <p:spPr>
          <a:xfrm>
            <a:off x="7000" y="-7000"/>
            <a:ext cx="9144000" cy="3498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6" name="Google Shape;86;p12"/>
          <p:cNvSpPr/>
          <p:nvPr/>
        </p:nvSpPr>
        <p:spPr>
          <a:xfrm>
            <a:off x="0" y="0"/>
            <a:ext cx="311700" cy="51549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7" name="Google Shape;87;p12"/>
          <p:cNvSpPr/>
          <p:nvPr/>
        </p:nvSpPr>
        <p:spPr>
          <a:xfrm>
            <a:off x="8839300" y="0"/>
            <a:ext cx="311700" cy="51549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8" name="Google Shape;88;p12"/>
          <p:cNvSpPr txBox="1"/>
          <p:nvPr>
            <p:ph type="title"/>
          </p:nvPr>
        </p:nvSpPr>
        <p:spPr>
          <a:xfrm>
            <a:off x="311700" y="342900"/>
            <a:ext cx="81471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" name="Google Shape;89;p12"/>
          <p:cNvSpPr txBox="1"/>
          <p:nvPr>
            <p:ph type="body" idx="1"/>
          </p:nvPr>
        </p:nvSpPr>
        <p:spPr>
          <a:xfrm>
            <a:off x="311700" y="915600"/>
            <a:ext cx="8520600" cy="37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0" name="Google Shape;90;p12"/>
          <p:cNvSpPr txBox="1"/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3"/>
          <p:cNvSpPr txBox="1"/>
          <p:nvPr>
            <p:ph type="title"/>
          </p:nvPr>
        </p:nvSpPr>
        <p:spPr>
          <a:xfrm>
            <a:off x="311700" y="342900"/>
            <a:ext cx="2808000" cy="8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3" name="Google Shape;93;p13"/>
          <p:cNvSpPr txBox="1"/>
          <p:nvPr>
            <p:ph type="body" idx="1"/>
          </p:nvPr>
        </p:nvSpPr>
        <p:spPr>
          <a:xfrm>
            <a:off x="311700" y="1209300"/>
            <a:ext cx="2808000" cy="34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97" name="Google Shape;97;p14"/>
          <p:cNvSpPr txBox="1"/>
          <p:nvPr>
            <p:ph type="title"/>
          </p:nvPr>
        </p:nvSpPr>
        <p:spPr>
          <a:xfrm>
            <a:off x="311700" y="679950"/>
            <a:ext cx="3999000" cy="227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Font typeface="Assistant"/>
              <a:buNone/>
              <a:defRPr sz="4200" b="1">
                <a:latin typeface="Assistant"/>
                <a:ea typeface="Assistant"/>
                <a:cs typeface="Assistant"/>
                <a:sym typeface="Assistan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Font typeface="Assistant"/>
              <a:buNone/>
              <a:defRPr sz="4200" b="1">
                <a:latin typeface="Assistant"/>
                <a:ea typeface="Assistant"/>
                <a:cs typeface="Assistant"/>
                <a:sym typeface="Assistan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Font typeface="Assistant"/>
              <a:buNone/>
              <a:defRPr sz="4200" b="1">
                <a:latin typeface="Assistant"/>
                <a:ea typeface="Assistant"/>
                <a:cs typeface="Assistant"/>
                <a:sym typeface="Assistan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Font typeface="Assistant"/>
              <a:buNone/>
              <a:defRPr sz="4200" b="1">
                <a:latin typeface="Assistant"/>
                <a:ea typeface="Assistant"/>
                <a:cs typeface="Assistant"/>
                <a:sym typeface="Assistan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Font typeface="Assistant"/>
              <a:buNone/>
              <a:defRPr sz="4200" b="1">
                <a:latin typeface="Assistant"/>
                <a:ea typeface="Assistant"/>
                <a:cs typeface="Assistant"/>
                <a:sym typeface="Assistan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Font typeface="Assistant"/>
              <a:buNone/>
              <a:defRPr sz="4200" b="1">
                <a:latin typeface="Assistant"/>
                <a:ea typeface="Assistant"/>
                <a:cs typeface="Assistant"/>
                <a:sym typeface="Assistan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Font typeface="Assistant"/>
              <a:buNone/>
              <a:defRPr sz="4200" b="1">
                <a:latin typeface="Assistant"/>
                <a:ea typeface="Assistant"/>
                <a:cs typeface="Assistant"/>
                <a:sym typeface="Assistan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Font typeface="Assistant"/>
              <a:buNone/>
              <a:defRPr sz="4200" b="1">
                <a:latin typeface="Assistant"/>
                <a:ea typeface="Assistant"/>
                <a:cs typeface="Assistant"/>
                <a:sym typeface="Assistant"/>
              </a:defRPr>
            </a:lvl9pPr>
          </a:lstStyle>
          <a:p/>
        </p:txBody>
      </p:sp>
      <p:sp>
        <p:nvSpPr>
          <p:cNvPr id="98" name="Google Shape;98;p14"/>
          <p:cNvSpPr txBox="1"/>
          <p:nvPr>
            <p:ph type="subTitle" idx="1"/>
          </p:nvPr>
        </p:nvSpPr>
        <p:spPr>
          <a:xfrm>
            <a:off x="311700" y="2950350"/>
            <a:ext cx="39990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99" name="Google Shape;99;p14"/>
          <p:cNvSpPr txBox="1"/>
          <p:nvPr>
            <p:ph type="body" idx="2"/>
          </p:nvPr>
        </p:nvSpPr>
        <p:spPr>
          <a:xfrm>
            <a:off x="4939500" y="342900"/>
            <a:ext cx="3419400" cy="41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0" name="Google Shape;100;p14"/>
          <p:cNvSpPr txBox="1"/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5"/>
          <p:cNvSpPr txBox="1"/>
          <p:nvPr>
            <p:ph type="title"/>
          </p:nvPr>
        </p:nvSpPr>
        <p:spPr>
          <a:xfrm>
            <a:off x="311700" y="342900"/>
            <a:ext cx="6541800" cy="43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15"/>
          <p:cNvSpPr txBox="1"/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6"/>
          <p:cNvSpPr txBox="1"/>
          <p:nvPr>
            <p:ph type="body" idx="1"/>
          </p:nvPr>
        </p:nvSpPr>
        <p:spPr>
          <a:xfrm>
            <a:off x="311700" y="4663200"/>
            <a:ext cx="7082100" cy="4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</a:lstStyle>
          <a:p/>
        </p:txBody>
      </p:sp>
      <p:sp>
        <p:nvSpPr>
          <p:cNvPr id="106" name="Google Shape;106;p16"/>
          <p:cNvSpPr txBox="1"/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 1">
  <p:cSld name="BIG_NUMBER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7"/>
          <p:cNvSpPr txBox="1"/>
          <p:nvPr>
            <p:ph type="title" hasCustomPrompt="1"/>
          </p:nvPr>
        </p:nvSpPr>
        <p:spPr>
          <a:xfrm>
            <a:off x="311700" y="898300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0"/>
              <a:buNone/>
              <a:defRPr sz="12000">
                <a:solidFill>
                  <a:schemeClr val="accent4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0"/>
              <a:buNone/>
              <a:defRPr sz="12000">
                <a:solidFill>
                  <a:schemeClr val="accent4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0"/>
              <a:buNone/>
              <a:defRPr sz="12000">
                <a:solidFill>
                  <a:schemeClr val="accent4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0"/>
              <a:buNone/>
              <a:defRPr sz="12000">
                <a:solidFill>
                  <a:schemeClr val="accent4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0"/>
              <a:buNone/>
              <a:defRPr sz="12000">
                <a:solidFill>
                  <a:schemeClr val="accent4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0"/>
              <a:buNone/>
              <a:defRPr sz="12000">
                <a:solidFill>
                  <a:schemeClr val="accent4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0"/>
              <a:buNone/>
              <a:defRPr sz="12000">
                <a:solidFill>
                  <a:schemeClr val="accent4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0"/>
              <a:buNone/>
              <a:defRPr sz="12000">
                <a:solidFill>
                  <a:schemeClr val="accent4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0"/>
              <a:buNone/>
              <a:defRPr sz="12000">
                <a:solidFill>
                  <a:schemeClr val="accent4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9" name="Google Shape;109;p17"/>
          <p:cNvSpPr txBox="1"/>
          <p:nvPr>
            <p:ph type="body" idx="1"/>
          </p:nvPr>
        </p:nvSpPr>
        <p:spPr>
          <a:xfrm>
            <a:off x="311700" y="2944400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0" name="Google Shape;110;p17"/>
          <p:cNvSpPr txBox="1"/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 2">
  <p:cSld name="BIG_NUMBER_1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8"/>
          <p:cNvSpPr txBox="1"/>
          <p:nvPr>
            <p:ph type="title"/>
          </p:nvPr>
        </p:nvSpPr>
        <p:spPr>
          <a:xfrm>
            <a:off x="311700" y="898300"/>
            <a:ext cx="24165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113" name="Google Shape;113;p18"/>
          <p:cNvSpPr txBox="1"/>
          <p:nvPr>
            <p:ph type="body" idx="1"/>
          </p:nvPr>
        </p:nvSpPr>
        <p:spPr>
          <a:xfrm>
            <a:off x="311700" y="2944400"/>
            <a:ext cx="24165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4" name="Google Shape;114;p18"/>
          <p:cNvSpPr txBox="1"/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sp>
        <p:nvSpPr>
          <p:cNvPr id="115" name="Google Shape;115;p18"/>
          <p:cNvSpPr txBox="1"/>
          <p:nvPr>
            <p:ph type="title" idx="2"/>
          </p:nvPr>
        </p:nvSpPr>
        <p:spPr>
          <a:xfrm>
            <a:off x="6415800" y="898300"/>
            <a:ext cx="24165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116" name="Google Shape;116;p18"/>
          <p:cNvSpPr txBox="1"/>
          <p:nvPr>
            <p:ph type="body" idx="3"/>
          </p:nvPr>
        </p:nvSpPr>
        <p:spPr>
          <a:xfrm>
            <a:off x="6415800" y="2944400"/>
            <a:ext cx="24165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7" name="Google Shape;117;p18"/>
          <p:cNvSpPr txBox="1"/>
          <p:nvPr>
            <p:ph type="title" idx="4"/>
          </p:nvPr>
        </p:nvSpPr>
        <p:spPr>
          <a:xfrm>
            <a:off x="3363750" y="898300"/>
            <a:ext cx="24165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118" name="Google Shape;118;p18"/>
          <p:cNvSpPr txBox="1"/>
          <p:nvPr>
            <p:ph type="body" idx="5"/>
          </p:nvPr>
        </p:nvSpPr>
        <p:spPr>
          <a:xfrm>
            <a:off x="3363750" y="2944400"/>
            <a:ext cx="24165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9"/>
          <p:cNvSpPr txBox="1"/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 and contact">
  <p:cSld name="MAIN_POINT_1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0"/>
          <p:cNvSpPr txBox="1"/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grpSp>
        <p:nvGrpSpPr>
          <p:cNvPr id="123" name="Google Shape;123;p20"/>
          <p:cNvGrpSpPr/>
          <p:nvPr/>
        </p:nvGrpSpPr>
        <p:grpSpPr>
          <a:xfrm rot="2700000">
            <a:off x="585683" y="481417"/>
            <a:ext cx="694882" cy="564848"/>
            <a:chOff x="919500" y="1916075"/>
            <a:chExt cx="1067700" cy="867900"/>
          </a:xfrm>
        </p:grpSpPr>
        <p:sp>
          <p:nvSpPr>
            <p:cNvPr id="124" name="Google Shape;124;p20"/>
            <p:cNvSpPr/>
            <p:nvPr/>
          </p:nvSpPr>
          <p:spPr>
            <a:xfrm>
              <a:off x="919500" y="1992275"/>
              <a:ext cx="915300" cy="791700"/>
            </a:xfrm>
            <a:prstGeom prst="triangle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25" name="Google Shape;125;p20"/>
            <p:cNvSpPr/>
            <p:nvPr/>
          </p:nvSpPr>
          <p:spPr>
            <a:xfrm>
              <a:off x="1071900" y="1916075"/>
              <a:ext cx="915300" cy="791700"/>
            </a:xfrm>
            <a:prstGeom prst="triangle">
              <a:avLst>
                <a:gd name="adj" fmla="val 5000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grpSp>
        <p:nvGrpSpPr>
          <p:cNvPr id="126" name="Google Shape;126;p20"/>
          <p:cNvGrpSpPr/>
          <p:nvPr/>
        </p:nvGrpSpPr>
        <p:grpSpPr>
          <a:xfrm rot="8100000">
            <a:off x="7746888" y="3437645"/>
            <a:ext cx="912919" cy="742084"/>
            <a:chOff x="521400" y="3135325"/>
            <a:chExt cx="1067700" cy="867900"/>
          </a:xfrm>
        </p:grpSpPr>
        <p:sp>
          <p:nvSpPr>
            <p:cNvPr id="127" name="Google Shape;127;p20"/>
            <p:cNvSpPr/>
            <p:nvPr/>
          </p:nvSpPr>
          <p:spPr>
            <a:xfrm>
              <a:off x="521400" y="3211525"/>
              <a:ext cx="915300" cy="791700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28" name="Google Shape;128;p20"/>
            <p:cNvSpPr/>
            <p:nvPr/>
          </p:nvSpPr>
          <p:spPr>
            <a:xfrm>
              <a:off x="673800" y="3135325"/>
              <a:ext cx="915300" cy="791700"/>
            </a:xfrm>
            <a:prstGeom prst="triangle">
              <a:avLst>
                <a:gd name="adj" fmla="val 5000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sp>
        <p:nvSpPr>
          <p:cNvPr id="129" name="Google Shape;129;p20"/>
          <p:cNvSpPr txBox="1"/>
          <p:nvPr>
            <p:ph type="title"/>
          </p:nvPr>
        </p:nvSpPr>
        <p:spPr>
          <a:xfrm>
            <a:off x="311700" y="342900"/>
            <a:ext cx="8100000" cy="209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ssistant"/>
              <a:buNone/>
              <a:defRPr sz="4800">
                <a:solidFill>
                  <a:schemeClr val="accent1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ssistant"/>
              <a:buNone/>
              <a:defRPr sz="4800">
                <a:solidFill>
                  <a:schemeClr val="accent1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ssistant"/>
              <a:buNone/>
              <a:defRPr sz="4800">
                <a:solidFill>
                  <a:schemeClr val="accent1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ssistant"/>
              <a:buNone/>
              <a:defRPr sz="4800">
                <a:solidFill>
                  <a:schemeClr val="accent1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ssistant"/>
              <a:buNone/>
              <a:defRPr sz="4800">
                <a:solidFill>
                  <a:schemeClr val="accent1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ssistant"/>
              <a:buNone/>
              <a:defRPr sz="4800">
                <a:solidFill>
                  <a:schemeClr val="accent1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ssistant"/>
              <a:buNone/>
              <a:defRPr sz="4800">
                <a:solidFill>
                  <a:schemeClr val="accent1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ssistant"/>
              <a:buNone/>
              <a:defRPr sz="4800">
                <a:solidFill>
                  <a:schemeClr val="accent1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20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42900"/>
            <a:ext cx="81471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ssistant"/>
              <a:buNone/>
              <a:defRPr sz="2800" b="1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311700" y="915600"/>
            <a:ext cx="8520600" cy="37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ssistant"/>
              <a:buChar char="●"/>
              <a:defRPr sz="18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○"/>
              <a:defRPr sz="14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■"/>
              <a:defRPr sz="14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●"/>
              <a:defRPr sz="14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○"/>
              <a:defRPr sz="14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■"/>
              <a:defRPr sz="14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●"/>
              <a:defRPr sz="14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○"/>
              <a:defRPr sz="14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400"/>
              <a:buFont typeface="Assistant"/>
              <a:buChar char="■"/>
              <a:defRPr sz="14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 panose="020B0604020202020204"/>
              <a:buNone/>
              <a:defRPr sz="800" b="0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grpSp>
        <p:nvGrpSpPr>
          <p:cNvPr id="9" name="Google Shape;9;p1"/>
          <p:cNvGrpSpPr/>
          <p:nvPr/>
        </p:nvGrpSpPr>
        <p:grpSpPr>
          <a:xfrm>
            <a:off x="8458848" y="343116"/>
            <a:ext cx="381224" cy="576102"/>
            <a:chOff x="8458848" y="343116"/>
            <a:chExt cx="381224" cy="576102"/>
          </a:xfrm>
        </p:grpSpPr>
        <p:sp>
          <p:nvSpPr>
            <p:cNvPr id="10" name="Google Shape;10;p1"/>
            <p:cNvSpPr/>
            <p:nvPr/>
          </p:nvSpPr>
          <p:spPr>
            <a:xfrm>
              <a:off x="8458848" y="343116"/>
              <a:ext cx="381224" cy="576102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pic>
          <p:nvPicPr>
            <p:cNvPr id="11" name="Google Shape;11;p1"/>
            <p:cNvPicPr preferRelativeResize="0"/>
            <p:nvPr/>
          </p:nvPicPr>
          <p:blipFill rotWithShape="1">
            <a:blip r:embed="rId20"/>
            <a:srcRect l="79" r="79"/>
            <a:stretch>
              <a:fillRect/>
            </a:stretch>
          </p:blipFill>
          <p:spPr>
            <a:xfrm>
              <a:off x="8480104" y="384425"/>
              <a:ext cx="338711" cy="49740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vmlDrawing" Target="../drawings/vmlDrawing1.v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5.wmf"/><Relationship Id="rId2" Type="http://schemas.openxmlformats.org/officeDocument/2006/relationships/package" Target="../embeddings/Document1.docx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7.xml"/><Relationship Id="rId2" Type="http://schemas.openxmlformats.org/officeDocument/2006/relationships/tags" Target="../tags/tag1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1"/>
          <p:cNvSpPr txBox="1"/>
          <p:nvPr>
            <p:ph type="subTitle" idx="1"/>
          </p:nvPr>
        </p:nvSpPr>
        <p:spPr>
          <a:xfrm>
            <a:off x="142625" y="1535250"/>
            <a:ext cx="6400800" cy="7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 altLang="en-GB" b="1" u="sng">
                <a:effectLst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Python Final Project:</a:t>
            </a:r>
            <a:endParaRPr lang="en-US" altLang="en-GB" b="1" u="sng">
              <a:effectLst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35" name="Google Shape;135;p21"/>
          <p:cNvSpPr txBox="1"/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pic>
        <p:nvPicPr>
          <p:cNvPr id="136" name="Google Shape;136;p21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6400829" y="3024490"/>
            <a:ext cx="748807" cy="78337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21"/>
          <p:cNvSpPr txBox="1"/>
          <p:nvPr>
            <p:ph type="subTitle" idx="1"/>
          </p:nvPr>
        </p:nvSpPr>
        <p:spPr>
          <a:xfrm>
            <a:off x="100975" y="2668200"/>
            <a:ext cx="7380300" cy="5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 altLang="en-GB" b="1" u="sng">
                <a:effectLst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Book Manager System</a:t>
            </a:r>
            <a:endParaRPr lang="en-US" altLang="en-GB" b="1" u="sng">
              <a:effectLst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lvl="0" indent="0" algn="l" rtl="0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SzPts val="1100"/>
              <a:buNone/>
            </a:pPr>
            <a:endParaRPr lang="en-US" altLang="en-GB" b="1" u="sng">
              <a:solidFill>
                <a:schemeClr val="dk1"/>
              </a:solidFill>
              <a:effectLst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38" name="Google Shape;138;p21"/>
          <p:cNvSpPr txBox="1"/>
          <p:nvPr/>
        </p:nvSpPr>
        <p:spPr>
          <a:xfrm>
            <a:off x="142625" y="4031274"/>
            <a:ext cx="4280400" cy="858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sz="1600" b="1" u="sng">
                <a:solidFill>
                  <a:srgbClr val="6D9E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Muhammad Sarfaraz Ahmed</a:t>
            </a:r>
            <a:endParaRPr lang="en-US" altLang="en-GB" sz="1600" b="1" u="sng">
              <a:solidFill>
                <a:srgbClr val="6D9EEB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sz="1600" b="1" u="sng">
                <a:solidFill>
                  <a:srgbClr val="6D9E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Python Course Project</a:t>
            </a:r>
            <a:endParaRPr lang="en-US" altLang="en-GB" sz="1600" b="1" u="sng">
              <a:solidFill>
                <a:srgbClr val="6D9EEB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sz="1200" b="1" u="sng">
                <a:solidFill>
                  <a:srgbClr val="6D9E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ReDI School of Digital Integration</a:t>
            </a:r>
            <a:endParaRPr lang="en-US" altLang="en-GB" sz="1200" b="1" u="sng">
              <a:solidFill>
                <a:srgbClr val="6D9EEB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2"/>
          <p:cNvSpPr txBox="1"/>
          <p:nvPr>
            <p:ph type="title"/>
          </p:nvPr>
        </p:nvSpPr>
        <p:spPr>
          <a:xfrm>
            <a:off x="311700" y="643250"/>
            <a:ext cx="8520600" cy="103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ct val="85000"/>
              <a:buNone/>
            </a:pPr>
            <a:endParaRPr sz="1300"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345" b="0"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lvl="0" indent="0" algn="ctr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ct val="100000"/>
              <a:buNone/>
            </a:pPr>
          </a:p>
        </p:txBody>
      </p:sp>
      <p:sp>
        <p:nvSpPr>
          <p:cNvPr id="144" name="Google Shape;144;p22"/>
          <p:cNvSpPr txBox="1"/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2500" lnSpcReduction="20000"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pic>
        <p:nvPicPr>
          <p:cNvPr id="145" name="Google Shape;145;p22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6697892" y="3833495"/>
            <a:ext cx="2134414" cy="829011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22"/>
          <p:cNvSpPr txBox="1"/>
          <p:nvPr/>
        </p:nvSpPr>
        <p:spPr>
          <a:xfrm>
            <a:off x="1084875" y="3356675"/>
            <a:ext cx="5822400" cy="73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endParaRPr sz="13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100">
              <a:solidFill>
                <a:schemeClr val="dk1"/>
              </a:solidFill>
            </a:endParaRPr>
          </a:p>
        </p:txBody>
      </p:sp>
      <p:sp>
        <p:nvSpPr>
          <p:cNvPr id="147" name="Google Shape;147;p22"/>
          <p:cNvSpPr txBox="1"/>
          <p:nvPr/>
        </p:nvSpPr>
        <p:spPr>
          <a:xfrm>
            <a:off x="5623175" y="1734175"/>
            <a:ext cx="3003600" cy="1394700"/>
          </a:xfrm>
          <a:prstGeom prst="rect">
            <a:avLst/>
          </a:prstGeom>
          <a:noFill/>
          <a:ln>
            <a:noFill/>
          </a:ln>
          <a:effectLst>
            <a:reflection dist="38100" dir="5400000" fadeDir="5400012" sy="-100000" algn="bl" rotWithShape="0"/>
          </a:effectLst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148" name="Google Shape;148;p22"/>
          <p:cNvSpPr txBox="1"/>
          <p:nvPr>
            <p:ph type="title"/>
          </p:nvPr>
        </p:nvSpPr>
        <p:spPr>
          <a:xfrm>
            <a:off x="1997075" y="411480"/>
            <a:ext cx="4843145" cy="677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 panose="020B0604020202020204"/>
              <a:buNone/>
            </a:pPr>
            <a:r>
              <a:rPr lang="en-US" altLang="en-GB" sz="2400">
                <a:solidFill>
                  <a:schemeClr val="bg2">
                    <a:lumMod val="50000"/>
                  </a:schemeClr>
                </a:solidFill>
                <a:highlight>
                  <a:srgbClr val="FFFFFF"/>
                </a:highlight>
                <a:latin typeface="Arial Black" panose="020B0A04020102020204" charset="0"/>
                <a:cs typeface="Arial Black" panose="020B0A04020102020204" charset="0"/>
                <a:sym typeface="+mn-ea"/>
              </a:rPr>
              <a:t>Why I Chose This Project..</a:t>
            </a:r>
            <a:r>
              <a:rPr lang="en-US" altLang="en-GB" sz="2800">
                <a:solidFill>
                  <a:schemeClr val="bg2">
                    <a:lumMod val="50000"/>
                  </a:schemeClr>
                </a:solidFill>
                <a:highlight>
                  <a:srgbClr val="FFFFFF"/>
                </a:highlight>
                <a:latin typeface="Arial Black" panose="020B0A04020102020204" charset="0"/>
                <a:cs typeface="Arial Black" panose="020B0A04020102020204" charset="0"/>
                <a:sym typeface="+mn-ea"/>
              </a:rPr>
              <a:t>?</a:t>
            </a:r>
            <a:br>
              <a:rPr lang="en-GB" sz="1400" b="0">
                <a:solidFill>
                  <a:srgbClr val="FFC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br>
            <a:br>
              <a:rPr lang="en-GB" sz="1390" b="0">
                <a:solidFill>
                  <a:srgbClr val="FFC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br>
            <a:endParaRPr sz="1390">
              <a:solidFill>
                <a:srgbClr val="FFC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990"/>
              <a:buNone/>
            </a:pPr>
            <a:endParaRPr sz="1390">
              <a:solidFill>
                <a:srgbClr val="FFC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SzPts val="990"/>
              <a:buNone/>
            </a:pPr>
            <a:endParaRPr sz="1390">
              <a:solidFill>
                <a:srgbClr val="FFC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49" name="Google Shape;149;p22"/>
          <p:cNvSpPr txBox="1"/>
          <p:nvPr/>
        </p:nvSpPr>
        <p:spPr>
          <a:xfrm>
            <a:off x="727500" y="1129975"/>
            <a:ext cx="7689000" cy="2397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8575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l"/>
            </a:pPr>
            <a:r>
              <a:rPr lang="en-US" altLang="en-GB" sz="1800">
                <a:solidFill>
                  <a:schemeClr val="accent4">
                    <a:lumMod val="75000"/>
                  </a:schemeClr>
                </a:solidFill>
                <a:highlight>
                  <a:srgbClr val="FFFFFF"/>
                </a:highlight>
                <a:latin typeface="Calibri" panose="020F0502020204030204" charset="0"/>
                <a:cs typeface="Calibri" panose="020F0502020204030204" charset="0"/>
              </a:rPr>
              <a:t>I wanted to create a practical Python application.</a:t>
            </a:r>
            <a:endParaRPr lang="en-US" altLang="en-GB" sz="1800">
              <a:solidFill>
                <a:schemeClr val="accent4">
                  <a:lumMod val="75000"/>
                </a:schemeClr>
              </a:solidFill>
              <a:highlight>
                <a:srgbClr val="FFFFFF"/>
              </a:highlight>
              <a:latin typeface="Calibri" panose="020F0502020204030204" charset="0"/>
              <a:cs typeface="Calibri" panose="020F0502020204030204" charset="0"/>
            </a:endParaRPr>
          </a:p>
          <a:p>
            <a:pPr marL="28575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l"/>
            </a:pPr>
            <a:r>
              <a:rPr lang="en-US" altLang="en-GB" sz="1800">
                <a:solidFill>
                  <a:schemeClr val="accent4">
                    <a:lumMod val="75000"/>
                  </a:schemeClr>
                </a:solidFill>
                <a:highlight>
                  <a:srgbClr val="FFFFFF"/>
                </a:highlight>
                <a:latin typeface="Calibri" panose="020F0502020204030204" charset="0"/>
                <a:cs typeface="Calibri" panose="020F0502020204030204" charset="0"/>
              </a:rPr>
              <a:t>I wanted to improve my understanding of OOP and file handling.</a:t>
            </a:r>
            <a:endParaRPr lang="en-US" altLang="en-GB" sz="1800">
              <a:solidFill>
                <a:schemeClr val="accent4">
                  <a:lumMod val="75000"/>
                </a:schemeClr>
              </a:solidFill>
              <a:highlight>
                <a:srgbClr val="FFFFFF"/>
              </a:highlight>
              <a:latin typeface="Calibri" panose="020F0502020204030204" charset="0"/>
              <a:cs typeface="Calibri" panose="020F0502020204030204" charset="0"/>
            </a:endParaRPr>
          </a:p>
          <a:p>
            <a:pPr marL="28575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l"/>
            </a:pPr>
            <a:r>
              <a:rPr lang="en-US" altLang="en-GB" sz="1800">
                <a:solidFill>
                  <a:schemeClr val="accent4">
                    <a:lumMod val="75000"/>
                  </a:schemeClr>
                </a:solidFill>
                <a:highlight>
                  <a:srgbClr val="FFFFFF"/>
                </a:highlight>
                <a:latin typeface="Calibri" panose="020F0502020204030204" charset="0"/>
                <a:cs typeface="Calibri" panose="020F0502020204030204" charset="0"/>
              </a:rPr>
              <a:t>Managing books is a real-world problem.</a:t>
            </a:r>
            <a:endParaRPr lang="en-US" altLang="en-GB" sz="1800">
              <a:solidFill>
                <a:schemeClr val="accent4">
                  <a:lumMod val="75000"/>
                </a:schemeClr>
              </a:solidFill>
              <a:highlight>
                <a:srgbClr val="FFFFFF"/>
              </a:highlight>
              <a:latin typeface="Calibri" panose="020F0502020204030204" charset="0"/>
              <a:cs typeface="Calibri" panose="020F0502020204030204" charset="0"/>
            </a:endParaRPr>
          </a:p>
          <a:p>
            <a:pPr marL="28575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l"/>
            </a:pPr>
            <a:r>
              <a:rPr lang="en-US" altLang="en-GB" sz="1800">
                <a:solidFill>
                  <a:schemeClr val="accent4">
                    <a:lumMod val="75000"/>
                  </a:schemeClr>
                </a:solidFill>
                <a:highlight>
                  <a:srgbClr val="FFFFFF"/>
                </a:highlight>
                <a:latin typeface="Calibri" panose="020F0502020204030204" charset="0"/>
                <a:cs typeface="Calibri" panose="020F0502020204030204" charset="0"/>
              </a:rPr>
              <a:t>The project helped me practice Python concepts in a simple and useful way.</a:t>
            </a:r>
            <a:endParaRPr lang="en-US" altLang="en-GB" sz="1800">
              <a:solidFill>
                <a:schemeClr val="accent4">
                  <a:lumMod val="75000"/>
                </a:schemeClr>
              </a:solidFill>
              <a:highlight>
                <a:srgbClr val="FFFFFF"/>
              </a:highlight>
              <a:latin typeface="Calibri" panose="020F0502020204030204" charset="0"/>
              <a:cs typeface="Calibri" panose="020F050202020403020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2"/>
          <p:cNvSpPr txBox="1"/>
          <p:nvPr>
            <p:ph type="title"/>
          </p:nvPr>
        </p:nvSpPr>
        <p:spPr>
          <a:xfrm>
            <a:off x="311700" y="643250"/>
            <a:ext cx="8520600" cy="103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ct val="85000"/>
              <a:buNone/>
            </a:pPr>
            <a:endParaRPr sz="1300"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345" b="0"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lvl="0" indent="0" algn="ctr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ct val="100000"/>
              <a:buNone/>
            </a:pPr>
          </a:p>
        </p:txBody>
      </p:sp>
      <p:sp>
        <p:nvSpPr>
          <p:cNvPr id="144" name="Google Shape;144;p22"/>
          <p:cNvSpPr txBox="1"/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2500" lnSpcReduction="20000"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pic>
        <p:nvPicPr>
          <p:cNvPr id="145" name="Google Shape;145;p22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6697892" y="3833495"/>
            <a:ext cx="2134414" cy="829011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22"/>
          <p:cNvSpPr txBox="1"/>
          <p:nvPr/>
        </p:nvSpPr>
        <p:spPr>
          <a:xfrm>
            <a:off x="1084875" y="3356675"/>
            <a:ext cx="5822400" cy="73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endParaRPr sz="13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100">
              <a:solidFill>
                <a:schemeClr val="dk1"/>
              </a:solidFill>
            </a:endParaRPr>
          </a:p>
        </p:txBody>
      </p:sp>
      <p:sp>
        <p:nvSpPr>
          <p:cNvPr id="147" name="Google Shape;147;p22"/>
          <p:cNvSpPr txBox="1"/>
          <p:nvPr/>
        </p:nvSpPr>
        <p:spPr>
          <a:xfrm>
            <a:off x="5623175" y="1734175"/>
            <a:ext cx="3003600" cy="1394700"/>
          </a:xfrm>
          <a:prstGeom prst="rect">
            <a:avLst/>
          </a:prstGeom>
          <a:noFill/>
          <a:ln>
            <a:noFill/>
          </a:ln>
          <a:effectLst>
            <a:reflection dist="38100" dir="5400000" fadeDir="5400012" sy="-100000" algn="bl" rotWithShape="0"/>
          </a:effectLst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148" name="Google Shape;148;p22"/>
          <p:cNvSpPr txBox="1"/>
          <p:nvPr>
            <p:ph type="title"/>
          </p:nvPr>
        </p:nvSpPr>
        <p:spPr>
          <a:xfrm>
            <a:off x="1979930" y="339725"/>
            <a:ext cx="4536440" cy="677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 panose="020B0604020202020204"/>
              <a:buNone/>
            </a:pPr>
            <a:r>
              <a:rPr lang="en-US" altLang="en-GB" sz="2400" u="sng">
                <a:solidFill>
                  <a:schemeClr val="bg2">
                    <a:lumMod val="50000"/>
                  </a:schemeClr>
                </a:solidFill>
                <a:highlight>
                  <a:srgbClr val="FFFFFF"/>
                </a:highlight>
                <a:latin typeface="Arial Black" panose="020B0A04020102020204" charset="0"/>
                <a:cs typeface="Arial Black" panose="020B0A04020102020204" charset="0"/>
                <a:sym typeface="+mn-ea"/>
              </a:rPr>
              <a:t>PROJECT FEATURES</a:t>
            </a:r>
            <a:r>
              <a:rPr lang="en-US" altLang="en-GB" sz="2400">
                <a:solidFill>
                  <a:schemeClr val="bg2">
                    <a:lumMod val="50000"/>
                  </a:schemeClr>
                </a:solidFill>
                <a:highlight>
                  <a:srgbClr val="FFFFFF"/>
                </a:highlight>
                <a:latin typeface="Arial Black" panose="020B0A04020102020204" charset="0"/>
                <a:cs typeface="Arial Black" panose="020B0A04020102020204" charset="0"/>
                <a:sym typeface="+mn-ea"/>
              </a:rPr>
              <a:t> </a:t>
            </a:r>
            <a:br>
              <a:rPr lang="en-GB" sz="1390" b="0">
                <a:solidFill>
                  <a:srgbClr val="FFC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br>
            <a:br>
              <a:rPr lang="en-GB" sz="1390" b="0">
                <a:solidFill>
                  <a:srgbClr val="FFC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br>
            <a:endParaRPr sz="1390">
              <a:solidFill>
                <a:srgbClr val="FFC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990"/>
              <a:buNone/>
            </a:pPr>
            <a:endParaRPr sz="1390">
              <a:solidFill>
                <a:srgbClr val="FFC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SzPts val="990"/>
              <a:buNone/>
            </a:pPr>
            <a:endParaRPr sz="1390">
              <a:solidFill>
                <a:srgbClr val="FFC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49" name="Google Shape;149;p22"/>
          <p:cNvSpPr txBox="1"/>
          <p:nvPr/>
        </p:nvSpPr>
        <p:spPr>
          <a:xfrm>
            <a:off x="683050" y="555300"/>
            <a:ext cx="7689000" cy="3874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None/>
            </a:pPr>
            <a:r>
              <a:rPr lang="en-US" altLang="en-GB" sz="2400" b="1" u="sng">
                <a:solidFill>
                  <a:schemeClr val="accent1">
                    <a:lumMod val="75000"/>
                  </a:schemeClr>
                </a:solidFill>
                <a:highlight>
                  <a:srgbClr val="FFFFFF"/>
                </a:highlight>
                <a:latin typeface="Calibri" panose="020F0502020204030204" charset="0"/>
                <a:cs typeface="Calibri" panose="020F0502020204030204" charset="0"/>
              </a:rPr>
              <a:t>Main Features:</a:t>
            </a:r>
            <a:endParaRPr lang="en-US" altLang="en-GB" sz="2400" b="1" u="sng">
              <a:solidFill>
                <a:schemeClr val="accent1">
                  <a:lumMod val="75000"/>
                </a:schemeClr>
              </a:solidFill>
              <a:highlight>
                <a:srgbClr val="FFFFFF"/>
              </a:highlight>
              <a:latin typeface="Calibri" panose="020F0502020204030204" charset="0"/>
              <a:cs typeface="Calibri" panose="020F0502020204030204" charset="0"/>
            </a:endParaRPr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l"/>
            </a:pPr>
            <a:r>
              <a:rPr lang="en-US" altLang="en-GB" sz="1600">
                <a:solidFill>
                  <a:schemeClr val="accent4">
                    <a:lumMod val="75000"/>
                  </a:schemeClr>
                </a:solidFill>
                <a:highlight>
                  <a:srgbClr val="FFFFFF"/>
                </a:highlight>
                <a:latin typeface="Calibri" panose="020F0502020204030204" charset="0"/>
                <a:cs typeface="Calibri" panose="020F0502020204030204" charset="0"/>
              </a:rPr>
              <a:t>Add new books</a:t>
            </a:r>
            <a:endParaRPr lang="en-US" altLang="en-GB" sz="1600">
              <a:solidFill>
                <a:schemeClr val="accent4">
                  <a:lumMod val="75000"/>
                </a:schemeClr>
              </a:solidFill>
              <a:highlight>
                <a:srgbClr val="FFFFFF"/>
              </a:highlight>
              <a:latin typeface="Calibri" panose="020F0502020204030204" charset="0"/>
              <a:cs typeface="Calibri" panose="020F0502020204030204" charset="0"/>
            </a:endParaRPr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l"/>
            </a:pPr>
            <a:r>
              <a:rPr lang="en-US" altLang="en-GB" sz="1600">
                <a:solidFill>
                  <a:schemeClr val="accent4">
                    <a:lumMod val="75000"/>
                  </a:schemeClr>
                </a:solidFill>
                <a:highlight>
                  <a:srgbClr val="FFFFFF"/>
                </a:highlight>
                <a:latin typeface="Calibri" panose="020F0502020204030204" charset="0"/>
                <a:cs typeface="Calibri" panose="020F0502020204030204" charset="0"/>
              </a:rPr>
              <a:t>View saved books</a:t>
            </a:r>
            <a:endParaRPr lang="en-US" altLang="en-GB" sz="1600">
              <a:solidFill>
                <a:schemeClr val="accent4">
                  <a:lumMod val="75000"/>
                </a:schemeClr>
              </a:solidFill>
              <a:highlight>
                <a:srgbClr val="FFFFFF"/>
              </a:highlight>
              <a:latin typeface="Calibri" panose="020F0502020204030204" charset="0"/>
              <a:cs typeface="Calibri" panose="020F0502020204030204" charset="0"/>
            </a:endParaRPr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l"/>
            </a:pPr>
            <a:r>
              <a:rPr lang="en-US" altLang="en-GB" sz="1600">
                <a:solidFill>
                  <a:schemeClr val="accent4">
                    <a:lumMod val="75000"/>
                  </a:schemeClr>
                </a:solidFill>
                <a:highlight>
                  <a:srgbClr val="FFFFFF"/>
                </a:highlight>
                <a:latin typeface="Calibri" panose="020F0502020204030204" charset="0"/>
                <a:cs typeface="Calibri" panose="020F0502020204030204" charset="0"/>
              </a:rPr>
              <a:t>Save books in JSON file</a:t>
            </a:r>
            <a:endParaRPr lang="en-US" altLang="en-GB" sz="1600">
              <a:solidFill>
                <a:schemeClr val="accent4">
                  <a:lumMod val="75000"/>
                </a:schemeClr>
              </a:solidFill>
              <a:highlight>
                <a:srgbClr val="FFFFFF"/>
              </a:highlight>
              <a:latin typeface="Calibri" panose="020F0502020204030204" charset="0"/>
              <a:cs typeface="Calibri" panose="020F0502020204030204" charset="0"/>
            </a:endParaRPr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l"/>
            </a:pPr>
            <a:r>
              <a:rPr lang="en-US" altLang="en-GB" sz="1600">
                <a:solidFill>
                  <a:schemeClr val="accent4">
                    <a:lumMod val="75000"/>
                  </a:schemeClr>
                </a:solidFill>
                <a:highlight>
                  <a:srgbClr val="FFFFFF"/>
                </a:highlight>
                <a:latin typeface="Calibri" panose="020F0502020204030204" charset="0"/>
                <a:cs typeface="Calibri" panose="020F0502020204030204" charset="0"/>
              </a:rPr>
              <a:t>Load books automatically</a:t>
            </a:r>
            <a:endParaRPr lang="en-US" altLang="en-GB" sz="1600">
              <a:solidFill>
                <a:schemeClr val="accent4">
                  <a:lumMod val="75000"/>
                </a:schemeClr>
              </a:solidFill>
              <a:highlight>
                <a:srgbClr val="FFFFFF"/>
              </a:highlight>
              <a:latin typeface="Calibri" panose="020F0502020204030204" charset="0"/>
              <a:cs typeface="Calibri" panose="020F0502020204030204" charset="0"/>
            </a:endParaRPr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l"/>
            </a:pPr>
            <a:r>
              <a:rPr lang="en-US" altLang="en-GB" sz="1600">
                <a:solidFill>
                  <a:schemeClr val="accent4">
                    <a:lumMod val="75000"/>
                  </a:schemeClr>
                </a:solidFill>
                <a:highlight>
                  <a:srgbClr val="FFFFFF"/>
                </a:highlight>
                <a:latin typeface="Calibri" panose="020F0502020204030204" charset="0"/>
                <a:cs typeface="Calibri" panose="020F0502020204030204" charset="0"/>
              </a:rPr>
              <a:t>Error handling</a:t>
            </a:r>
            <a:endParaRPr lang="en-US" altLang="en-GB" sz="1600">
              <a:solidFill>
                <a:schemeClr val="accent4">
                  <a:lumMod val="75000"/>
                </a:schemeClr>
              </a:solidFill>
              <a:highlight>
                <a:srgbClr val="FFFFFF"/>
              </a:highlight>
              <a:latin typeface="Calibri" panose="020F0502020204030204" charset="0"/>
              <a:cs typeface="Calibri" panose="020F0502020204030204" charset="0"/>
            </a:endParaRPr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l"/>
            </a:pPr>
            <a:r>
              <a:rPr lang="en-US" altLang="en-GB" sz="1600">
                <a:solidFill>
                  <a:schemeClr val="accent4">
                    <a:lumMod val="75000"/>
                  </a:schemeClr>
                </a:solidFill>
                <a:highlight>
                  <a:srgbClr val="FFFFFF"/>
                </a:highlight>
                <a:latin typeface="Calibri" panose="020F0502020204030204" charset="0"/>
                <a:cs typeface="Calibri" panose="020F0502020204030204" charset="0"/>
              </a:rPr>
              <a:t>Input validation</a:t>
            </a:r>
            <a:endParaRPr lang="en-US" altLang="en-GB" sz="1600">
              <a:solidFill>
                <a:schemeClr val="accent4">
                  <a:lumMod val="75000"/>
                </a:schemeClr>
              </a:solidFill>
              <a:highlight>
                <a:srgbClr val="FFFFFF"/>
              </a:highlight>
              <a:latin typeface="Calibri" panose="020F0502020204030204" charset="0"/>
              <a:cs typeface="Calibri" panose="020F0502020204030204" charset="0"/>
            </a:endParaRPr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l"/>
            </a:pPr>
            <a:r>
              <a:rPr lang="en-US" altLang="en-GB" sz="1600">
                <a:solidFill>
                  <a:schemeClr val="accent4">
                    <a:lumMod val="75000"/>
                  </a:schemeClr>
                </a:solidFill>
                <a:highlight>
                  <a:srgbClr val="FFFFFF"/>
                </a:highlight>
                <a:latin typeface="Calibri" panose="020F0502020204030204" charset="0"/>
                <a:cs typeface="Calibri" panose="020F0502020204030204" charset="0"/>
              </a:rPr>
              <a:t>Pytest testing</a:t>
            </a:r>
            <a:endParaRPr lang="en-US" altLang="en-GB" sz="1600">
              <a:solidFill>
                <a:schemeClr val="accent4">
                  <a:lumMod val="75000"/>
                </a:schemeClr>
              </a:solidFill>
              <a:highlight>
                <a:srgbClr val="FFFFFF"/>
              </a:highlight>
              <a:latin typeface="Calibri" panose="020F0502020204030204" charset="0"/>
              <a:cs typeface="Calibri" panose="020F0502020204030204" charset="0"/>
            </a:endParaRPr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l"/>
            </a:pPr>
            <a:r>
              <a:rPr lang="en-US" altLang="en-GB" sz="1600">
                <a:solidFill>
                  <a:schemeClr val="accent4">
                    <a:lumMod val="75000"/>
                  </a:schemeClr>
                </a:solidFill>
                <a:highlight>
                  <a:srgbClr val="FFFFFF"/>
                </a:highlight>
                <a:latin typeface="Calibri" panose="020F0502020204030204" charset="0"/>
                <a:cs typeface="Calibri" panose="020F0502020204030204" charset="0"/>
              </a:rPr>
              <a:t>GitHub version control</a:t>
            </a:r>
            <a:endParaRPr lang="en-US" altLang="en-GB" sz="1600">
              <a:solidFill>
                <a:schemeClr val="accent4">
                  <a:lumMod val="75000"/>
                </a:schemeClr>
              </a:solidFill>
              <a:highlight>
                <a:srgbClr val="FFFFFF"/>
              </a:highlight>
              <a:latin typeface="Calibri" panose="020F0502020204030204" charset="0"/>
              <a:cs typeface="Calibri" panose="020F0502020204030204" charset="0"/>
            </a:endParaRPr>
          </a:p>
        </p:txBody>
      </p:sp>
      <p:graphicFrame>
        <p:nvGraphicFramePr>
          <p:cNvPr id="1" name="Object 0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8532495" y="457835"/>
          <a:ext cx="224790" cy="1854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showAsIcon="1" r:id="rId2" imgW="971550" imgH="800100" progId="Word.Document.12">
                  <p:embed/>
                </p:oleObj>
              </mc:Choice>
              <mc:Fallback>
                <p:oleObj name="" showAsIcon="1" r:id="rId2" imgW="971550" imgH="800100" progId="Word.Document.12">
                  <p:embed/>
                  <p:pic>
                    <p:nvPicPr>
                      <p:cNvPr id="0" name="Picture 1024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8532495" y="457835"/>
                        <a:ext cx="224790" cy="1854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2"/>
          <p:cNvSpPr txBox="1"/>
          <p:nvPr>
            <p:ph type="title"/>
          </p:nvPr>
        </p:nvSpPr>
        <p:spPr>
          <a:xfrm>
            <a:off x="311700" y="643250"/>
            <a:ext cx="8520600" cy="103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ct val="85000"/>
              <a:buNone/>
            </a:pPr>
            <a:endParaRPr sz="1300"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345" b="0"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lvl="0" indent="0" algn="ctr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ct val="100000"/>
              <a:buNone/>
            </a:pPr>
          </a:p>
        </p:txBody>
      </p:sp>
      <p:sp>
        <p:nvSpPr>
          <p:cNvPr id="144" name="Google Shape;144;p22"/>
          <p:cNvSpPr txBox="1"/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2500" lnSpcReduction="20000"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pic>
        <p:nvPicPr>
          <p:cNvPr id="145" name="Google Shape;145;p22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6697892" y="3833495"/>
            <a:ext cx="2134414" cy="829011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22"/>
          <p:cNvSpPr txBox="1"/>
          <p:nvPr/>
        </p:nvSpPr>
        <p:spPr>
          <a:xfrm>
            <a:off x="1084875" y="3356675"/>
            <a:ext cx="5822400" cy="73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endParaRPr sz="13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100">
              <a:solidFill>
                <a:schemeClr val="dk1"/>
              </a:solidFill>
            </a:endParaRPr>
          </a:p>
        </p:txBody>
      </p:sp>
      <p:sp>
        <p:nvSpPr>
          <p:cNvPr id="147" name="Google Shape;147;p22"/>
          <p:cNvSpPr txBox="1"/>
          <p:nvPr/>
        </p:nvSpPr>
        <p:spPr>
          <a:xfrm>
            <a:off x="5623175" y="1734175"/>
            <a:ext cx="3003600" cy="1394700"/>
          </a:xfrm>
          <a:prstGeom prst="rect">
            <a:avLst/>
          </a:prstGeom>
          <a:noFill/>
          <a:ln>
            <a:noFill/>
          </a:ln>
          <a:effectLst>
            <a:reflection dist="38100" dir="5400000" fadeDir="5400012" sy="-100000" algn="bl" rotWithShape="0"/>
          </a:effectLst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148" name="Google Shape;148;p22"/>
          <p:cNvSpPr txBox="1"/>
          <p:nvPr>
            <p:ph type="title"/>
          </p:nvPr>
        </p:nvSpPr>
        <p:spPr>
          <a:xfrm>
            <a:off x="2051685" y="351790"/>
            <a:ext cx="4536440" cy="677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 panose="020B0604020202020204"/>
              <a:buNone/>
            </a:pPr>
            <a:r>
              <a:rPr lang="en-US" altLang="en-GB" sz="2400" u="sng">
                <a:solidFill>
                  <a:schemeClr val="bg2">
                    <a:lumMod val="50000"/>
                  </a:schemeClr>
                </a:solidFill>
                <a:highlight>
                  <a:srgbClr val="FFFFFF"/>
                </a:highlight>
                <a:latin typeface="Arial Black" panose="020B0A04020102020204" charset="0"/>
                <a:cs typeface="Arial Black" panose="020B0A04020102020204" charset="0"/>
                <a:sym typeface="+mn-ea"/>
              </a:rPr>
              <a:t>TECHNOLOGIES USED</a:t>
            </a:r>
            <a:r>
              <a:rPr lang="en-US" altLang="en-GB" sz="2400">
                <a:solidFill>
                  <a:schemeClr val="bg2">
                    <a:lumMod val="50000"/>
                  </a:schemeClr>
                </a:solidFill>
                <a:highlight>
                  <a:srgbClr val="FFFFFF"/>
                </a:highlight>
                <a:latin typeface="Arial Black" panose="020B0A04020102020204" charset="0"/>
                <a:cs typeface="Arial Black" panose="020B0A04020102020204" charset="0"/>
                <a:sym typeface="+mn-ea"/>
              </a:rPr>
              <a:t> </a:t>
            </a:r>
            <a:br>
              <a:rPr lang="en-GB" sz="1390" b="0">
                <a:solidFill>
                  <a:srgbClr val="FFC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br>
            <a:br>
              <a:rPr lang="en-GB" sz="1390" b="0">
                <a:solidFill>
                  <a:srgbClr val="FFC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br>
            <a:endParaRPr sz="1390">
              <a:solidFill>
                <a:srgbClr val="FFC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990"/>
              <a:buNone/>
            </a:pPr>
            <a:endParaRPr sz="1390">
              <a:solidFill>
                <a:srgbClr val="FFC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SzPts val="990"/>
              <a:buNone/>
            </a:pPr>
            <a:endParaRPr sz="1390">
              <a:solidFill>
                <a:srgbClr val="FFC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49" name="Google Shape;149;p22"/>
          <p:cNvSpPr txBox="1"/>
          <p:nvPr/>
        </p:nvSpPr>
        <p:spPr>
          <a:xfrm>
            <a:off x="683050" y="698810"/>
            <a:ext cx="7689000" cy="3874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None/>
            </a:pPr>
            <a:r>
              <a:rPr lang="en-US" altLang="en-GB" sz="2400" b="1" u="sng">
                <a:solidFill>
                  <a:schemeClr val="accent1">
                    <a:lumMod val="75000"/>
                  </a:schemeClr>
                </a:solidFill>
                <a:highlight>
                  <a:srgbClr val="FFFFFF"/>
                </a:highlight>
                <a:latin typeface="Calibri" panose="020F0502020204030204" charset="0"/>
                <a:cs typeface="Calibri" panose="020F0502020204030204" charset="0"/>
              </a:rPr>
              <a:t>Technologioes:</a:t>
            </a:r>
            <a:endParaRPr lang="en-US" altLang="en-GB" sz="2400" b="1" u="sng">
              <a:solidFill>
                <a:schemeClr val="accent1">
                  <a:lumMod val="75000"/>
                </a:schemeClr>
              </a:solidFill>
              <a:highlight>
                <a:srgbClr val="FFFFFF"/>
              </a:highlight>
              <a:latin typeface="Calibri" panose="020F0502020204030204" charset="0"/>
              <a:cs typeface="Calibri" panose="020F0502020204030204" charset="0"/>
            </a:endParaRPr>
          </a:p>
          <a:p>
            <a:pPr marL="28575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l"/>
            </a:pPr>
            <a:r>
              <a:rPr lang="en-US" altLang="en-GB" sz="1600">
                <a:solidFill>
                  <a:schemeClr val="accent4">
                    <a:lumMod val="75000"/>
                  </a:schemeClr>
                </a:solidFill>
                <a:highlight>
                  <a:srgbClr val="FFFFFF"/>
                </a:highlight>
                <a:latin typeface="Calibri" panose="020F0502020204030204" charset="0"/>
                <a:cs typeface="Calibri" panose="020F0502020204030204" charset="0"/>
              </a:rPr>
              <a:t>Python 3</a:t>
            </a:r>
            <a:endParaRPr lang="en-US" altLang="en-GB" sz="1600">
              <a:solidFill>
                <a:schemeClr val="accent4">
                  <a:lumMod val="75000"/>
                </a:schemeClr>
              </a:solidFill>
              <a:highlight>
                <a:srgbClr val="FFFFFF"/>
              </a:highlight>
              <a:latin typeface="Calibri" panose="020F0502020204030204" charset="0"/>
              <a:cs typeface="Calibri" panose="020F0502020204030204" charset="0"/>
            </a:endParaRPr>
          </a:p>
          <a:p>
            <a:pPr marL="28575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l"/>
            </a:pPr>
            <a:r>
              <a:rPr lang="en-US" altLang="en-GB" sz="1600">
                <a:solidFill>
                  <a:schemeClr val="accent4">
                    <a:lumMod val="75000"/>
                  </a:schemeClr>
                </a:solidFill>
                <a:highlight>
                  <a:srgbClr val="FFFFFF"/>
                </a:highlight>
                <a:latin typeface="Calibri" panose="020F0502020204030204" charset="0"/>
                <a:cs typeface="Calibri" panose="020F0502020204030204" charset="0"/>
              </a:rPr>
              <a:t>Object-Oriented Programming (OOP)</a:t>
            </a:r>
            <a:endParaRPr lang="en-US" altLang="en-GB" sz="1600">
              <a:solidFill>
                <a:schemeClr val="accent4">
                  <a:lumMod val="75000"/>
                </a:schemeClr>
              </a:solidFill>
              <a:highlight>
                <a:srgbClr val="FFFFFF"/>
              </a:highlight>
              <a:latin typeface="Calibri" panose="020F0502020204030204" charset="0"/>
              <a:cs typeface="Calibri" panose="020F0502020204030204" charset="0"/>
            </a:endParaRPr>
          </a:p>
          <a:p>
            <a:pPr marL="28575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l"/>
            </a:pPr>
            <a:r>
              <a:rPr lang="en-US" altLang="en-GB" sz="1600">
                <a:solidFill>
                  <a:schemeClr val="accent4">
                    <a:lumMod val="75000"/>
                  </a:schemeClr>
                </a:solidFill>
                <a:highlight>
                  <a:srgbClr val="FFFFFF"/>
                </a:highlight>
                <a:latin typeface="Calibri" panose="020F0502020204030204" charset="0"/>
                <a:cs typeface="Calibri" panose="020F0502020204030204" charset="0"/>
              </a:rPr>
              <a:t>JSON</a:t>
            </a:r>
            <a:endParaRPr lang="en-US" altLang="en-GB" sz="1600">
              <a:solidFill>
                <a:schemeClr val="accent4">
                  <a:lumMod val="75000"/>
                </a:schemeClr>
              </a:solidFill>
              <a:highlight>
                <a:srgbClr val="FFFFFF"/>
              </a:highlight>
              <a:latin typeface="Calibri" panose="020F0502020204030204" charset="0"/>
              <a:cs typeface="Calibri" panose="020F0502020204030204" charset="0"/>
            </a:endParaRPr>
          </a:p>
          <a:p>
            <a:pPr marL="28575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l"/>
            </a:pPr>
            <a:r>
              <a:rPr lang="en-US" altLang="en-GB" sz="1600">
                <a:solidFill>
                  <a:schemeClr val="accent4">
                    <a:lumMod val="75000"/>
                  </a:schemeClr>
                </a:solidFill>
                <a:highlight>
                  <a:srgbClr val="FFFFFF"/>
                </a:highlight>
                <a:latin typeface="Calibri" panose="020F0502020204030204" charset="0"/>
                <a:cs typeface="Calibri" panose="020F0502020204030204" charset="0"/>
              </a:rPr>
              <a:t>Pytest</a:t>
            </a:r>
            <a:endParaRPr lang="en-US" altLang="en-GB" sz="1600">
              <a:solidFill>
                <a:schemeClr val="accent4">
                  <a:lumMod val="75000"/>
                </a:schemeClr>
              </a:solidFill>
              <a:highlight>
                <a:srgbClr val="FFFFFF"/>
              </a:highlight>
              <a:latin typeface="Calibri" panose="020F0502020204030204" charset="0"/>
              <a:cs typeface="Calibri" panose="020F0502020204030204" charset="0"/>
            </a:endParaRPr>
          </a:p>
          <a:p>
            <a:pPr marL="28575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l"/>
            </a:pPr>
            <a:r>
              <a:rPr lang="en-US" altLang="en-GB" sz="1600">
                <a:solidFill>
                  <a:schemeClr val="accent4">
                    <a:lumMod val="75000"/>
                  </a:schemeClr>
                </a:solidFill>
                <a:highlight>
                  <a:srgbClr val="FFFFFF"/>
                </a:highlight>
                <a:latin typeface="Calibri" panose="020F0502020204030204" charset="0"/>
                <a:cs typeface="Calibri" panose="020F0502020204030204" charset="0"/>
              </a:rPr>
              <a:t>Git &amp; GitHub</a:t>
            </a:r>
            <a:endParaRPr lang="en-US" altLang="en-GB" sz="1600">
              <a:solidFill>
                <a:schemeClr val="accent4">
                  <a:lumMod val="75000"/>
                </a:schemeClr>
              </a:solidFill>
              <a:highlight>
                <a:srgbClr val="FFFFFF"/>
              </a:highlight>
              <a:latin typeface="Calibri" panose="020F0502020204030204" charset="0"/>
              <a:cs typeface="Calibri" panose="020F0502020204030204" charset="0"/>
            </a:endParaRPr>
          </a:p>
          <a:p>
            <a:pPr marL="28575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l"/>
            </a:pPr>
            <a:r>
              <a:rPr lang="en-US" altLang="en-GB" sz="1600">
                <a:solidFill>
                  <a:schemeClr val="accent4">
                    <a:lumMod val="75000"/>
                  </a:schemeClr>
                </a:solidFill>
                <a:highlight>
                  <a:srgbClr val="FFFFFF"/>
                </a:highlight>
                <a:latin typeface="Calibri" panose="020F0502020204030204" charset="0"/>
                <a:cs typeface="Calibri" panose="020F0502020204030204" charset="0"/>
              </a:rPr>
              <a:t>VS Code</a:t>
            </a:r>
            <a:endParaRPr lang="en-US" altLang="en-GB" sz="1600">
              <a:solidFill>
                <a:schemeClr val="accent4">
                  <a:lumMod val="75000"/>
                </a:schemeClr>
              </a:solidFill>
              <a:highlight>
                <a:srgbClr val="FFFFFF"/>
              </a:highlight>
              <a:latin typeface="Calibri" panose="020F0502020204030204" charset="0"/>
              <a:cs typeface="Calibri" panose="020F050202020403020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2"/>
          <p:cNvSpPr txBox="1"/>
          <p:nvPr>
            <p:ph type="title"/>
          </p:nvPr>
        </p:nvSpPr>
        <p:spPr>
          <a:xfrm>
            <a:off x="311700" y="643250"/>
            <a:ext cx="8520600" cy="103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ct val="85000"/>
              <a:buNone/>
            </a:pPr>
            <a:endParaRPr sz="1300"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345" b="0"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lvl="0" indent="0" algn="ctr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ct val="100000"/>
              <a:buNone/>
            </a:pPr>
          </a:p>
        </p:txBody>
      </p:sp>
      <p:sp>
        <p:nvSpPr>
          <p:cNvPr id="144" name="Google Shape;144;p22"/>
          <p:cNvSpPr txBox="1"/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2500" lnSpcReduction="20000"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pic>
        <p:nvPicPr>
          <p:cNvPr id="145" name="Google Shape;145;p22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6697892" y="3833495"/>
            <a:ext cx="2134414" cy="829011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22"/>
          <p:cNvSpPr txBox="1"/>
          <p:nvPr/>
        </p:nvSpPr>
        <p:spPr>
          <a:xfrm>
            <a:off x="1084875" y="3356675"/>
            <a:ext cx="5822400" cy="73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endParaRPr sz="13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100">
              <a:solidFill>
                <a:schemeClr val="dk1"/>
              </a:solidFill>
            </a:endParaRPr>
          </a:p>
        </p:txBody>
      </p:sp>
      <p:sp>
        <p:nvSpPr>
          <p:cNvPr id="147" name="Google Shape;147;p22"/>
          <p:cNvSpPr txBox="1"/>
          <p:nvPr/>
        </p:nvSpPr>
        <p:spPr>
          <a:xfrm>
            <a:off x="5623175" y="1734175"/>
            <a:ext cx="3003600" cy="1394700"/>
          </a:xfrm>
          <a:prstGeom prst="rect">
            <a:avLst/>
          </a:prstGeom>
          <a:noFill/>
          <a:ln>
            <a:noFill/>
          </a:ln>
          <a:effectLst>
            <a:reflection dist="38100" dir="5400000" fadeDir="5400012" sy="-100000" algn="bl" rotWithShape="0"/>
          </a:effectLst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148" name="Google Shape;148;p22"/>
          <p:cNvSpPr txBox="1"/>
          <p:nvPr>
            <p:ph type="title"/>
          </p:nvPr>
        </p:nvSpPr>
        <p:spPr>
          <a:xfrm>
            <a:off x="2051685" y="280035"/>
            <a:ext cx="7047230" cy="677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 panose="020B0604020202020204"/>
              <a:buNone/>
            </a:pPr>
            <a:r>
              <a:rPr lang="en-US" altLang="en-GB" sz="2400" u="sng">
                <a:solidFill>
                  <a:schemeClr val="bg2">
                    <a:lumMod val="50000"/>
                  </a:schemeClr>
                </a:solidFill>
                <a:highlight>
                  <a:srgbClr val="FFFFFF"/>
                </a:highlight>
                <a:latin typeface="Arial Black" panose="020B0A04020102020204" charset="0"/>
                <a:cs typeface="Arial Black" panose="020B0A04020102020204" charset="0"/>
                <a:sym typeface="+mn-ea"/>
              </a:rPr>
              <a:t>DEVELOPMENT PROCESS </a:t>
            </a:r>
            <a:br>
              <a:rPr lang="en-GB" sz="1390" b="0">
                <a:solidFill>
                  <a:srgbClr val="FFC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br>
            <a:br>
              <a:rPr lang="en-GB" sz="1390" b="0">
                <a:solidFill>
                  <a:srgbClr val="FFC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br>
            <a:endParaRPr sz="1390">
              <a:solidFill>
                <a:srgbClr val="FFC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990"/>
              <a:buNone/>
            </a:pPr>
            <a:endParaRPr sz="1390">
              <a:solidFill>
                <a:srgbClr val="FFC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SzPts val="990"/>
              <a:buNone/>
            </a:pPr>
            <a:endParaRPr sz="1390">
              <a:solidFill>
                <a:srgbClr val="FFC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49" name="Google Shape;149;p22"/>
          <p:cNvSpPr txBox="1"/>
          <p:nvPr/>
        </p:nvSpPr>
        <p:spPr>
          <a:xfrm>
            <a:off x="683050" y="411790"/>
            <a:ext cx="7689000" cy="43668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None/>
            </a:pPr>
            <a:r>
              <a:rPr lang="en-US" altLang="en-GB" sz="2400" b="1" u="sng">
                <a:solidFill>
                  <a:schemeClr val="accent1">
                    <a:lumMod val="75000"/>
                  </a:schemeClr>
                </a:solidFill>
                <a:highlight>
                  <a:srgbClr val="FFFFFF"/>
                </a:highlight>
                <a:latin typeface="Calibri" panose="020F0502020204030204" charset="0"/>
                <a:cs typeface="Calibri" panose="020F0502020204030204" charset="0"/>
              </a:rPr>
              <a:t>Progess:</a:t>
            </a:r>
            <a:endParaRPr lang="en-US" altLang="en-GB" sz="2400" b="1" u="sng">
              <a:solidFill>
                <a:schemeClr val="accent1">
                  <a:lumMod val="75000"/>
                </a:schemeClr>
              </a:solidFill>
              <a:highlight>
                <a:srgbClr val="FFFFFF"/>
              </a:highlight>
              <a:latin typeface="Calibri" panose="020F0502020204030204" charset="0"/>
              <a:cs typeface="Calibri" panose="020F0502020204030204" charset="0"/>
            </a:endParaRPr>
          </a:p>
          <a:p>
            <a:pPr marL="28575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l"/>
            </a:pPr>
            <a:r>
              <a:rPr lang="en-US" altLang="en-GB" sz="1600">
                <a:solidFill>
                  <a:schemeClr val="accent4">
                    <a:lumMod val="75000"/>
                  </a:schemeClr>
                </a:solidFill>
                <a:highlight>
                  <a:srgbClr val="FFFFFF"/>
                </a:highlight>
                <a:latin typeface="Calibri" panose="020F0502020204030204" charset="0"/>
                <a:cs typeface="Calibri" panose="020F0502020204030204" charset="0"/>
              </a:rPr>
              <a:t>Created project structure</a:t>
            </a:r>
            <a:endParaRPr lang="en-US" altLang="en-GB" sz="1600">
              <a:solidFill>
                <a:schemeClr val="accent4">
                  <a:lumMod val="75000"/>
                </a:schemeClr>
              </a:solidFill>
              <a:highlight>
                <a:srgbClr val="FFFFFF"/>
              </a:highlight>
              <a:latin typeface="Calibri" panose="020F0502020204030204" charset="0"/>
              <a:cs typeface="Calibri" panose="020F0502020204030204" charset="0"/>
            </a:endParaRPr>
          </a:p>
          <a:p>
            <a:pPr marL="28575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l"/>
            </a:pPr>
            <a:r>
              <a:rPr lang="en-US" altLang="en-GB" sz="1600">
                <a:solidFill>
                  <a:schemeClr val="accent4">
                    <a:lumMod val="75000"/>
                  </a:schemeClr>
                </a:solidFill>
                <a:highlight>
                  <a:srgbClr val="FFFFFF"/>
                </a:highlight>
                <a:latin typeface="Calibri" panose="020F0502020204030204" charset="0"/>
                <a:cs typeface="Calibri" panose="020F0502020204030204" charset="0"/>
              </a:rPr>
              <a:t>Implemented Book and BookManager classes</a:t>
            </a:r>
            <a:endParaRPr lang="en-US" altLang="en-GB" sz="1600">
              <a:solidFill>
                <a:schemeClr val="accent4">
                  <a:lumMod val="75000"/>
                </a:schemeClr>
              </a:solidFill>
              <a:highlight>
                <a:srgbClr val="FFFFFF"/>
              </a:highlight>
              <a:latin typeface="Calibri" panose="020F0502020204030204" charset="0"/>
              <a:cs typeface="Calibri" panose="020F0502020204030204" charset="0"/>
            </a:endParaRPr>
          </a:p>
          <a:p>
            <a:pPr marL="28575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l"/>
            </a:pPr>
            <a:r>
              <a:rPr lang="en-US" altLang="en-GB" sz="1600">
                <a:solidFill>
                  <a:schemeClr val="accent4">
                    <a:lumMod val="75000"/>
                  </a:schemeClr>
                </a:solidFill>
                <a:highlight>
                  <a:srgbClr val="FFFFFF"/>
                </a:highlight>
                <a:latin typeface="Calibri" panose="020F0502020204030204" charset="0"/>
                <a:cs typeface="Calibri" panose="020F0502020204030204" charset="0"/>
              </a:rPr>
              <a:t>Added JSON file handling</a:t>
            </a:r>
            <a:endParaRPr lang="en-US" altLang="en-GB" sz="1600">
              <a:solidFill>
                <a:schemeClr val="accent4">
                  <a:lumMod val="75000"/>
                </a:schemeClr>
              </a:solidFill>
              <a:highlight>
                <a:srgbClr val="FFFFFF"/>
              </a:highlight>
              <a:latin typeface="Calibri" panose="020F0502020204030204" charset="0"/>
              <a:cs typeface="Calibri" panose="020F0502020204030204" charset="0"/>
            </a:endParaRPr>
          </a:p>
          <a:p>
            <a:pPr marL="28575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l"/>
            </a:pPr>
            <a:r>
              <a:rPr lang="en-US" altLang="en-GB" sz="1600">
                <a:solidFill>
                  <a:schemeClr val="accent4">
                    <a:lumMod val="75000"/>
                  </a:schemeClr>
                </a:solidFill>
                <a:highlight>
                  <a:srgbClr val="FFFFFF"/>
                </a:highlight>
                <a:latin typeface="Calibri" panose="020F0502020204030204" charset="0"/>
                <a:cs typeface="Calibri" panose="020F0502020204030204" charset="0"/>
              </a:rPr>
              <a:t>Added pytest testing</a:t>
            </a:r>
            <a:endParaRPr lang="en-US" altLang="en-GB" sz="1600">
              <a:solidFill>
                <a:schemeClr val="accent4">
                  <a:lumMod val="75000"/>
                </a:schemeClr>
              </a:solidFill>
              <a:highlight>
                <a:srgbClr val="FFFFFF"/>
              </a:highlight>
              <a:latin typeface="Calibri" panose="020F0502020204030204" charset="0"/>
              <a:cs typeface="Calibri" panose="020F0502020204030204" charset="0"/>
            </a:endParaRPr>
          </a:p>
          <a:p>
            <a:pPr marL="28575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l"/>
            </a:pPr>
            <a:r>
              <a:rPr lang="en-US" altLang="en-GB" sz="1600">
                <a:solidFill>
                  <a:schemeClr val="accent4">
                    <a:lumMod val="75000"/>
                  </a:schemeClr>
                </a:solidFill>
                <a:highlight>
                  <a:srgbClr val="FFFFFF"/>
                </a:highlight>
                <a:latin typeface="Calibri" panose="020F0502020204030204" charset="0"/>
                <a:cs typeface="Calibri" panose="020F0502020204030204" charset="0"/>
              </a:rPr>
              <a:t>Improved error handling</a:t>
            </a:r>
            <a:endParaRPr lang="en-US" altLang="en-GB" sz="1600">
              <a:solidFill>
                <a:schemeClr val="accent4">
                  <a:lumMod val="75000"/>
                </a:schemeClr>
              </a:solidFill>
              <a:highlight>
                <a:srgbClr val="FFFFFF"/>
              </a:highlight>
              <a:latin typeface="Calibri" panose="020F0502020204030204" charset="0"/>
              <a:cs typeface="Calibri" panose="020F0502020204030204" charset="0"/>
            </a:endParaRPr>
          </a:p>
          <a:p>
            <a:pPr marL="28575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l"/>
            </a:pPr>
            <a:r>
              <a:rPr lang="en-US" altLang="en-GB" sz="1600">
                <a:solidFill>
                  <a:schemeClr val="accent4">
                    <a:lumMod val="75000"/>
                  </a:schemeClr>
                </a:solidFill>
                <a:highlight>
                  <a:srgbClr val="FFFFFF"/>
                </a:highlight>
                <a:latin typeface="Calibri" panose="020F0502020204030204" charset="0"/>
                <a:cs typeface="Calibri" panose="020F0502020204030204" charset="0"/>
              </a:rPr>
              <a:t>Added input validation</a:t>
            </a:r>
            <a:endParaRPr lang="en-US" altLang="en-GB" sz="1600">
              <a:solidFill>
                <a:schemeClr val="accent4">
                  <a:lumMod val="75000"/>
                </a:schemeClr>
              </a:solidFill>
              <a:highlight>
                <a:srgbClr val="FFFFFF"/>
              </a:highlight>
              <a:latin typeface="Calibri" panose="020F0502020204030204" charset="0"/>
              <a:cs typeface="Calibri" panose="020F0502020204030204" charset="0"/>
            </a:endParaRPr>
          </a:p>
          <a:p>
            <a:pPr marL="28575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l"/>
            </a:pPr>
            <a:r>
              <a:rPr lang="en-US" altLang="en-GB" sz="1600">
                <a:solidFill>
                  <a:schemeClr val="accent4">
                    <a:lumMod val="75000"/>
                  </a:schemeClr>
                </a:solidFill>
                <a:highlight>
                  <a:srgbClr val="FFFFFF"/>
                </a:highlight>
                <a:latin typeface="Calibri" panose="020F0502020204030204" charset="0"/>
                <a:cs typeface="Calibri" panose="020F0502020204030204" charset="0"/>
              </a:rPr>
              <a:t>Uploaded progress to GitHub using commits</a:t>
            </a:r>
            <a:endParaRPr lang="en-US" altLang="en-GB" sz="1600">
              <a:solidFill>
                <a:schemeClr val="accent4">
                  <a:lumMod val="75000"/>
                </a:schemeClr>
              </a:solidFill>
              <a:highlight>
                <a:srgbClr val="FFFFFF"/>
              </a:highlight>
              <a:latin typeface="Calibri" panose="020F0502020204030204" charset="0"/>
              <a:cs typeface="Calibri" panose="020F050202020403020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2"/>
          <p:cNvSpPr txBox="1"/>
          <p:nvPr>
            <p:ph type="title"/>
          </p:nvPr>
        </p:nvSpPr>
        <p:spPr>
          <a:xfrm>
            <a:off x="311700" y="643250"/>
            <a:ext cx="8520600" cy="103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ct val="85000"/>
              <a:buNone/>
            </a:pPr>
            <a:endParaRPr sz="1300"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345" b="0"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lvl="0" indent="0" algn="ctr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ct val="100000"/>
              <a:buNone/>
            </a:pPr>
          </a:p>
        </p:txBody>
      </p:sp>
      <p:sp>
        <p:nvSpPr>
          <p:cNvPr id="144" name="Google Shape;144;p22"/>
          <p:cNvSpPr txBox="1"/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2500" lnSpcReduction="20000"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pic>
        <p:nvPicPr>
          <p:cNvPr id="145" name="Google Shape;145;p22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6697892" y="3833495"/>
            <a:ext cx="2134414" cy="829011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22"/>
          <p:cNvSpPr txBox="1"/>
          <p:nvPr/>
        </p:nvSpPr>
        <p:spPr>
          <a:xfrm>
            <a:off x="1084875" y="3356675"/>
            <a:ext cx="5822400" cy="73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endParaRPr sz="13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100">
              <a:solidFill>
                <a:schemeClr val="dk1"/>
              </a:solidFill>
            </a:endParaRPr>
          </a:p>
        </p:txBody>
      </p:sp>
      <p:sp>
        <p:nvSpPr>
          <p:cNvPr id="147" name="Google Shape;147;p22"/>
          <p:cNvSpPr txBox="1"/>
          <p:nvPr/>
        </p:nvSpPr>
        <p:spPr>
          <a:xfrm>
            <a:off x="5623175" y="1734175"/>
            <a:ext cx="3003600" cy="1394700"/>
          </a:xfrm>
          <a:prstGeom prst="rect">
            <a:avLst/>
          </a:prstGeom>
          <a:noFill/>
          <a:ln>
            <a:noFill/>
          </a:ln>
          <a:effectLst>
            <a:reflection dist="38100" dir="5400000" fadeDir="5400012" sy="-100000" algn="bl" rotWithShape="0"/>
          </a:effectLst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148" name="Google Shape;148;p22"/>
          <p:cNvSpPr txBox="1"/>
          <p:nvPr>
            <p:ph type="title"/>
          </p:nvPr>
        </p:nvSpPr>
        <p:spPr>
          <a:xfrm>
            <a:off x="683260" y="267335"/>
            <a:ext cx="7047230" cy="677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 panose="020B0604020202020204"/>
              <a:buNone/>
            </a:pPr>
            <a:r>
              <a:rPr lang="en-US" altLang="en-GB" sz="2400" u="sng">
                <a:solidFill>
                  <a:schemeClr val="bg2">
                    <a:lumMod val="50000"/>
                  </a:schemeClr>
                </a:solidFill>
                <a:highlight>
                  <a:srgbClr val="FFFFFF"/>
                </a:highlight>
                <a:latin typeface="Arial Black" panose="020B0A04020102020204" charset="0"/>
                <a:cs typeface="Arial Black" panose="020B0A04020102020204" charset="0"/>
                <a:sym typeface="+mn-ea"/>
              </a:rPr>
              <a:t>CHALLENGES &amp; SOLUTIONS </a:t>
            </a:r>
            <a:br>
              <a:rPr lang="en-GB" sz="1390" b="0">
                <a:solidFill>
                  <a:srgbClr val="FFC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br>
            <a:br>
              <a:rPr lang="en-GB" sz="1390" b="0">
                <a:solidFill>
                  <a:srgbClr val="FFC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br>
            <a:endParaRPr sz="1390">
              <a:solidFill>
                <a:srgbClr val="FFC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990"/>
              <a:buNone/>
            </a:pPr>
            <a:endParaRPr sz="1390">
              <a:solidFill>
                <a:srgbClr val="FFC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SzPts val="990"/>
              <a:buNone/>
            </a:pPr>
            <a:endParaRPr sz="1390">
              <a:solidFill>
                <a:srgbClr val="FFC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graphicFrame>
        <p:nvGraphicFramePr>
          <p:cNvPr id="3" name="Table 2"/>
          <p:cNvGraphicFramePr/>
          <p:nvPr>
            <p:custDataLst>
              <p:tags r:id="rId2"/>
            </p:custDataLst>
          </p:nvPr>
        </p:nvGraphicFramePr>
        <p:xfrm>
          <a:off x="827405" y="987425"/>
          <a:ext cx="7449820" cy="2847975"/>
        </p:xfrm>
        <a:graphic>
          <a:graphicData uri="http://schemas.openxmlformats.org/drawingml/2006/table">
            <a:tbl>
              <a:tblPr firstRow="1" bandRow="1">
                <a:tableStyleId>{FABFCF23-3B69-468F-B69F-88F6DE6A72F2}</a:tableStyleId>
              </a:tblPr>
              <a:tblGrid>
                <a:gridCol w="3724910"/>
                <a:gridCol w="3724910"/>
              </a:tblGrid>
              <a:tr h="569595">
                <a:tc>
                  <a:txBody>
                    <a:bodyPr/>
                    <a:p>
                      <a:pPr algn="ctr"/>
                      <a:r>
                        <a:rPr lang="en-US" altLang="zh-CN" sz="1800">
                          <a:solidFill>
                            <a:schemeClr val="tx1"/>
                          </a:solidFill>
                        </a:rPr>
                        <a:t>Challenges</a:t>
                      </a:r>
                      <a:endParaRPr lang="en-US" altLang="zh-CN" sz="18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800">
                          <a:solidFill>
                            <a:schemeClr val="tx1"/>
                          </a:solidFill>
                        </a:rPr>
                        <a:t>Solutions</a:t>
                      </a:r>
                      <a:endParaRPr lang="en-US" altLang="zh-CN" sz="18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</a:tr>
              <a:tr h="569595">
                <a:tc>
                  <a:txBody>
                    <a:bodyPr/>
                    <a:p>
                      <a:pPr marL="285750" indent="-285750" algn="l">
                        <a:buFont typeface="Wingdings" panose="05000000000000000000" charset="0"/>
                        <a:buChar char="l"/>
                      </a:pPr>
                      <a:r>
                        <a:rPr lang="en-US" altLang="zh-CN" sz="1400" b="1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Git installation issues.</a:t>
                      </a:r>
                      <a:endParaRPr lang="en-US" altLang="zh-CN" sz="1400" b="1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L="0" marR="0" marT="0" marB="0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marL="285750" indent="-285750" algn="l">
                        <a:buFont typeface="Wingdings" panose="05000000000000000000" charset="0"/>
                        <a:buChar char="l"/>
                      </a:pPr>
                      <a:r>
                        <a:rPr lang="en-US" altLang="zh-CN" sz="1400" b="1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Installed and configured Git.</a:t>
                      </a:r>
                      <a:endParaRPr lang="en-US" altLang="zh-CN" sz="1400" b="1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569595">
                <a:tc>
                  <a:txBody>
                    <a:bodyPr/>
                    <a:p>
                      <a:pPr marL="285750" indent="-285750" algn="l">
                        <a:buFont typeface="Wingdings" panose="05000000000000000000" charset="0"/>
                        <a:buChar char="l"/>
                      </a:pPr>
                      <a:r>
                        <a:rPr lang="en-US" altLang="zh-CN" sz="1400" b="1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JSON loading errors.</a:t>
                      </a:r>
                      <a:endParaRPr lang="en-US" altLang="zh-CN" sz="1400" b="1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L="0" marR="0" marT="0" marB="0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marL="285750" indent="-285750" algn="l">
                        <a:buFont typeface="Wingdings" panose="05000000000000000000" charset="0"/>
                        <a:buChar char="l"/>
                      </a:pPr>
                      <a:r>
                        <a:rPr lang="en-US" altLang="zh-CN" sz="1400" b="1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Added try-except handling.</a:t>
                      </a:r>
                      <a:endParaRPr lang="en-US" altLang="zh-CN" sz="1400" b="1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569595">
                <a:tc>
                  <a:txBody>
                    <a:bodyPr/>
                    <a:p>
                      <a:pPr marL="285750" indent="-285750" algn="l">
                        <a:buFont typeface="Wingdings" panose="05000000000000000000" charset="0"/>
                        <a:buChar char="l"/>
                      </a:pPr>
                      <a:r>
                        <a:rPr lang="en-US" altLang="zh-CN" sz="1400" b="1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Indentation errors.</a:t>
                      </a:r>
                      <a:endParaRPr lang="en-US" altLang="zh-CN" sz="1400" b="1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L="0" marR="0" marT="0" marB="0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marL="285750" indent="-285750" algn="l">
                        <a:buFont typeface="Wingdings" panose="05000000000000000000" charset="0"/>
                        <a:buChar char="l"/>
                      </a:pPr>
                      <a:r>
                        <a:rPr lang="en-US" altLang="zh-CN" sz="1400" b="1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Fixed Python formatting.</a:t>
                      </a:r>
                      <a:endParaRPr lang="en-US" altLang="zh-CN" sz="1400" b="1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569595">
                <a:tc>
                  <a:txBody>
                    <a:bodyPr/>
                    <a:p>
                      <a:pPr marL="285750" indent="-285750" algn="l">
                        <a:buFont typeface="Wingdings" panose="05000000000000000000" charset="0"/>
                        <a:buChar char="l"/>
                      </a:pPr>
                      <a:r>
                        <a:rPr lang="en-US" altLang="zh-CN" sz="1400" b="1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Input validation.</a:t>
                      </a:r>
                      <a:endParaRPr lang="en-US" altLang="zh-CN" sz="1400" b="1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L="0" marR="0" marT="0" marB="0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marL="285750" indent="-285750" algn="l">
                        <a:buFont typeface="Wingdings" panose="05000000000000000000" charset="0"/>
                        <a:buChar char="l"/>
                      </a:pPr>
                      <a:r>
                        <a:rPr lang="en-US" altLang="zh-CN" sz="1400" b="1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Added checks for empty input.</a:t>
                      </a:r>
                      <a:endParaRPr lang="en-US" altLang="zh-CN" sz="1400" b="1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2"/>
          <p:cNvSpPr txBox="1"/>
          <p:nvPr>
            <p:ph type="title"/>
          </p:nvPr>
        </p:nvSpPr>
        <p:spPr>
          <a:xfrm>
            <a:off x="311700" y="643250"/>
            <a:ext cx="8520600" cy="103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ct val="85000"/>
              <a:buNone/>
            </a:pPr>
            <a:endParaRPr sz="1300"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345" b="0"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lvl="0" indent="0" algn="ctr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ct val="100000"/>
              <a:buNone/>
            </a:pPr>
          </a:p>
        </p:txBody>
      </p:sp>
      <p:sp>
        <p:nvSpPr>
          <p:cNvPr id="144" name="Google Shape;144;p22"/>
          <p:cNvSpPr txBox="1"/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62500"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pic>
        <p:nvPicPr>
          <p:cNvPr id="145" name="Google Shape;145;p22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6697892" y="3833495"/>
            <a:ext cx="2134414" cy="829011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22"/>
          <p:cNvSpPr txBox="1"/>
          <p:nvPr/>
        </p:nvSpPr>
        <p:spPr>
          <a:xfrm>
            <a:off x="1084875" y="3356675"/>
            <a:ext cx="5822400" cy="73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endParaRPr sz="13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100">
              <a:solidFill>
                <a:schemeClr val="dk1"/>
              </a:solidFill>
            </a:endParaRPr>
          </a:p>
        </p:txBody>
      </p:sp>
      <p:sp>
        <p:nvSpPr>
          <p:cNvPr id="147" name="Google Shape;147;p22"/>
          <p:cNvSpPr txBox="1"/>
          <p:nvPr/>
        </p:nvSpPr>
        <p:spPr>
          <a:xfrm>
            <a:off x="5623175" y="1734175"/>
            <a:ext cx="3003600" cy="1394700"/>
          </a:xfrm>
          <a:prstGeom prst="rect">
            <a:avLst/>
          </a:prstGeom>
          <a:noFill/>
          <a:ln>
            <a:noFill/>
          </a:ln>
          <a:effectLst>
            <a:reflection dist="38100" dir="5400000" fadeDir="5400012" sy="-100000" algn="bl" rotWithShape="0"/>
          </a:effectLst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148" name="Google Shape;148;p22"/>
          <p:cNvSpPr txBox="1"/>
          <p:nvPr>
            <p:ph type="title"/>
          </p:nvPr>
        </p:nvSpPr>
        <p:spPr>
          <a:xfrm>
            <a:off x="1579245" y="267970"/>
            <a:ext cx="7047230" cy="677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 panose="020B0604020202020204"/>
              <a:buNone/>
            </a:pPr>
            <a:r>
              <a:rPr lang="en-US" altLang="en-GB" sz="2000" u="sng">
                <a:solidFill>
                  <a:schemeClr val="bg2">
                    <a:lumMod val="50000"/>
                  </a:schemeClr>
                </a:solidFill>
                <a:highlight>
                  <a:srgbClr val="FFFFFF"/>
                </a:highlight>
                <a:latin typeface="Arial Black" panose="020B0A04020102020204" charset="0"/>
                <a:cs typeface="Arial Black" panose="020B0A04020102020204" charset="0"/>
                <a:sym typeface="+mn-ea"/>
              </a:rPr>
              <a:t>RESULTS &amp; FUTURE IMPROVEMENTS </a:t>
            </a:r>
            <a:br>
              <a:rPr lang="en-GB" sz="1200" b="0">
                <a:solidFill>
                  <a:srgbClr val="FFC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br>
            <a:br>
              <a:rPr lang="en-GB" sz="1200" b="0">
                <a:solidFill>
                  <a:srgbClr val="FFC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br>
            <a:endParaRPr sz="1200">
              <a:solidFill>
                <a:srgbClr val="FFC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990"/>
              <a:buNone/>
            </a:pPr>
            <a:endParaRPr sz="1200">
              <a:solidFill>
                <a:srgbClr val="FFC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SzPts val="990"/>
              <a:buNone/>
            </a:pPr>
            <a:endParaRPr sz="1200">
              <a:solidFill>
                <a:srgbClr val="FFC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49" name="Google Shape;149;p22"/>
          <p:cNvSpPr txBox="1"/>
          <p:nvPr/>
        </p:nvSpPr>
        <p:spPr>
          <a:xfrm>
            <a:off x="683260" y="411480"/>
            <a:ext cx="7943215" cy="3997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Tx/>
              <a:buFont typeface="Wingdings" panose="05000000000000000000" charset="0"/>
            </a:pPr>
            <a:r>
              <a:rPr lang="en-US" altLang="en-GB" sz="2000" b="1" u="sng">
                <a:solidFill>
                  <a:schemeClr val="accent1">
                    <a:lumMod val="75000"/>
                  </a:schemeClr>
                </a:solidFill>
                <a:highlight>
                  <a:srgbClr val="FFFFFF"/>
                </a:highlight>
                <a:latin typeface="Calibri" panose="020F0502020204030204" charset="0"/>
                <a:cs typeface="Calibri" panose="020F0502020204030204" charset="0"/>
              </a:rPr>
              <a:t>Results:</a:t>
            </a:r>
            <a:endParaRPr lang="en-US" altLang="en-GB" sz="2000" b="1" u="sng">
              <a:solidFill>
                <a:schemeClr val="accent1">
                  <a:lumMod val="75000"/>
                </a:schemeClr>
              </a:solidFill>
              <a:highlight>
                <a:srgbClr val="FFFFFF"/>
              </a:highlight>
              <a:latin typeface="Calibri" panose="020F0502020204030204" charset="0"/>
              <a:cs typeface="Calibri" panose="020F0502020204030204" charset="0"/>
            </a:endParaRPr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l"/>
            </a:pPr>
            <a:r>
              <a:rPr lang="en-US" altLang="en-GB" sz="1600">
                <a:solidFill>
                  <a:schemeClr val="accent4">
                    <a:lumMod val="75000"/>
                  </a:schemeClr>
                </a:solidFill>
                <a:highlight>
                  <a:srgbClr val="FFFFFF"/>
                </a:highlight>
                <a:latin typeface="Calibri" panose="020F0502020204030204" charset="0"/>
                <a:cs typeface="Calibri" panose="020F0502020204030204" charset="0"/>
              </a:rPr>
              <a:t>Fully working Book Manager System</a:t>
            </a:r>
            <a:endParaRPr lang="en-US" altLang="en-GB" sz="1600">
              <a:solidFill>
                <a:schemeClr val="accent4">
                  <a:lumMod val="75000"/>
                </a:schemeClr>
              </a:solidFill>
              <a:highlight>
                <a:srgbClr val="FFFFFF"/>
              </a:highlight>
              <a:latin typeface="Calibri" panose="020F0502020204030204" charset="0"/>
              <a:cs typeface="Calibri" panose="020F0502020204030204" charset="0"/>
            </a:endParaRPr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l"/>
            </a:pPr>
            <a:r>
              <a:rPr lang="en-US" altLang="en-GB" sz="1600">
                <a:solidFill>
                  <a:schemeClr val="accent4">
                    <a:lumMod val="75000"/>
                  </a:schemeClr>
                </a:solidFill>
                <a:highlight>
                  <a:srgbClr val="FFFFFF"/>
                </a:highlight>
                <a:latin typeface="Calibri" panose="020F0502020204030204" charset="0"/>
                <a:cs typeface="Calibri" panose="020F0502020204030204" charset="0"/>
              </a:rPr>
              <a:t>Data saved permanently</a:t>
            </a:r>
            <a:endParaRPr lang="en-US" altLang="en-GB" sz="1600">
              <a:solidFill>
                <a:schemeClr val="accent4">
                  <a:lumMod val="75000"/>
                </a:schemeClr>
              </a:solidFill>
              <a:highlight>
                <a:srgbClr val="FFFFFF"/>
              </a:highlight>
              <a:latin typeface="Calibri" panose="020F0502020204030204" charset="0"/>
              <a:cs typeface="Calibri" panose="020F0502020204030204" charset="0"/>
            </a:endParaRPr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l"/>
            </a:pPr>
            <a:r>
              <a:rPr lang="en-US" altLang="en-GB" sz="1600">
                <a:solidFill>
                  <a:schemeClr val="accent4">
                    <a:lumMod val="75000"/>
                  </a:schemeClr>
                </a:solidFill>
                <a:highlight>
                  <a:srgbClr val="FFFFFF"/>
                </a:highlight>
                <a:latin typeface="Calibri" panose="020F0502020204030204" charset="0"/>
                <a:cs typeface="Calibri" panose="020F0502020204030204" charset="0"/>
              </a:rPr>
              <a:t>Tested using pytest</a:t>
            </a:r>
            <a:endParaRPr lang="en-US" altLang="en-GB" sz="1600">
              <a:solidFill>
                <a:schemeClr val="accent4">
                  <a:lumMod val="75000"/>
                </a:schemeClr>
              </a:solidFill>
              <a:highlight>
                <a:srgbClr val="FFFFFF"/>
              </a:highlight>
              <a:latin typeface="Calibri" panose="020F0502020204030204" charset="0"/>
              <a:cs typeface="Calibri" panose="020F0502020204030204" charset="0"/>
            </a:endParaRPr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l"/>
            </a:pPr>
            <a:r>
              <a:rPr lang="en-US" altLang="en-GB" sz="1600">
                <a:solidFill>
                  <a:schemeClr val="accent4">
                    <a:lumMod val="75000"/>
                  </a:schemeClr>
                </a:solidFill>
                <a:highlight>
                  <a:srgbClr val="FFFFFF"/>
                </a:highlight>
                <a:latin typeface="Calibri" panose="020F0502020204030204" charset="0"/>
                <a:cs typeface="Calibri" panose="020F0502020204030204" charset="0"/>
              </a:rPr>
              <a:t>Professional GitHub repository</a:t>
            </a:r>
            <a:endParaRPr lang="en-US" altLang="en-GB" sz="1600">
              <a:solidFill>
                <a:schemeClr val="accent4">
                  <a:lumMod val="75000"/>
                </a:schemeClr>
              </a:solidFill>
              <a:highlight>
                <a:srgbClr val="FFFFFF"/>
              </a:highlight>
              <a:latin typeface="Calibri" panose="020F0502020204030204" charset="0"/>
              <a:cs typeface="Calibri" panose="020F0502020204030204" charset="0"/>
            </a:endParaRPr>
          </a:p>
          <a:p>
            <a:pPr lvl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Tx/>
              <a:buFont typeface="Wingdings" panose="05000000000000000000" charset="0"/>
            </a:pPr>
            <a:r>
              <a:rPr lang="en-US" altLang="en-GB" sz="2000" b="1" u="sng">
                <a:solidFill>
                  <a:schemeClr val="accent1">
                    <a:lumMod val="75000"/>
                  </a:schemeClr>
                </a:solidFill>
                <a:highlight>
                  <a:srgbClr val="FFFFFF"/>
                </a:highlight>
                <a:latin typeface="Calibri" panose="020F0502020204030204" charset="0"/>
                <a:cs typeface="Calibri" panose="020F0502020204030204" charset="0"/>
              </a:rPr>
              <a:t>Future Improvements:</a:t>
            </a:r>
            <a:endParaRPr lang="en-US" altLang="en-GB" sz="2000" b="1" u="sng">
              <a:solidFill>
                <a:schemeClr val="accent1">
                  <a:lumMod val="75000"/>
                </a:schemeClr>
              </a:solidFill>
              <a:highlight>
                <a:srgbClr val="FFFFFF"/>
              </a:highlight>
              <a:latin typeface="Calibri" panose="020F0502020204030204" charset="0"/>
              <a:cs typeface="Calibri" panose="020F0502020204030204" charset="0"/>
            </a:endParaRPr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l"/>
            </a:pPr>
            <a:r>
              <a:rPr lang="en-US" altLang="en-GB" sz="1600">
                <a:solidFill>
                  <a:schemeClr val="accent4">
                    <a:lumMod val="75000"/>
                  </a:schemeClr>
                </a:solidFill>
                <a:highlight>
                  <a:srgbClr val="FFFFFF"/>
                </a:highlight>
                <a:latin typeface="Calibri" panose="020F0502020204030204" charset="0"/>
                <a:cs typeface="Calibri" panose="020F0502020204030204" charset="0"/>
              </a:rPr>
              <a:t>Add search feature</a:t>
            </a:r>
            <a:endParaRPr lang="en-US" altLang="en-GB" sz="1600">
              <a:solidFill>
                <a:schemeClr val="accent4">
                  <a:lumMod val="75000"/>
                </a:schemeClr>
              </a:solidFill>
              <a:highlight>
                <a:srgbClr val="FFFFFF"/>
              </a:highlight>
              <a:latin typeface="Calibri" panose="020F0502020204030204" charset="0"/>
              <a:cs typeface="Calibri" panose="020F0502020204030204" charset="0"/>
            </a:endParaRPr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l"/>
            </a:pPr>
            <a:r>
              <a:rPr lang="en-US" altLang="en-GB" sz="1600">
                <a:solidFill>
                  <a:schemeClr val="accent4">
                    <a:lumMod val="75000"/>
                  </a:schemeClr>
                </a:solidFill>
                <a:highlight>
                  <a:srgbClr val="FFFFFF"/>
                </a:highlight>
                <a:latin typeface="Calibri" panose="020F0502020204030204" charset="0"/>
                <a:cs typeface="Calibri" panose="020F0502020204030204" charset="0"/>
              </a:rPr>
              <a:t>Add delete/update book option</a:t>
            </a:r>
            <a:endParaRPr lang="en-US" altLang="en-GB" sz="1600">
              <a:solidFill>
                <a:schemeClr val="accent4">
                  <a:lumMod val="75000"/>
                </a:schemeClr>
              </a:solidFill>
              <a:highlight>
                <a:srgbClr val="FFFFFF"/>
              </a:highlight>
              <a:latin typeface="Calibri" panose="020F0502020204030204" charset="0"/>
              <a:cs typeface="Calibri" panose="020F0502020204030204" charset="0"/>
            </a:endParaRPr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l"/>
            </a:pPr>
            <a:r>
              <a:rPr lang="en-US" altLang="en-GB" sz="1600">
                <a:solidFill>
                  <a:schemeClr val="accent4">
                    <a:lumMod val="75000"/>
                  </a:schemeClr>
                </a:solidFill>
                <a:highlight>
                  <a:srgbClr val="FFFFFF"/>
                </a:highlight>
                <a:latin typeface="Calibri" panose="020F0502020204030204" charset="0"/>
                <a:cs typeface="Calibri" panose="020F0502020204030204" charset="0"/>
              </a:rPr>
              <a:t>Add graphical user interface (GUI)</a:t>
            </a:r>
            <a:endParaRPr lang="en-US" altLang="en-GB" sz="1600">
              <a:solidFill>
                <a:schemeClr val="accent4">
                  <a:lumMod val="75000"/>
                </a:schemeClr>
              </a:solidFill>
              <a:highlight>
                <a:srgbClr val="FFFFFF"/>
              </a:highlight>
              <a:latin typeface="Calibri" panose="020F0502020204030204" charset="0"/>
              <a:cs typeface="Calibri" panose="020F0502020204030204" charset="0"/>
            </a:endParaRPr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l"/>
            </a:pPr>
            <a:r>
              <a:rPr lang="en-US" altLang="en-GB" sz="1600">
                <a:solidFill>
                  <a:schemeClr val="accent4">
                    <a:lumMod val="75000"/>
                  </a:schemeClr>
                </a:solidFill>
                <a:highlight>
                  <a:srgbClr val="FFFFFF"/>
                </a:highlight>
                <a:latin typeface="Calibri" panose="020F0502020204030204" charset="0"/>
                <a:cs typeface="Calibri" panose="020F0502020204030204" charset="0"/>
              </a:rPr>
              <a:t>Store more book details</a:t>
            </a:r>
            <a:endParaRPr lang="en-US" altLang="en-GB" sz="1600">
              <a:solidFill>
                <a:schemeClr val="accent4">
                  <a:lumMod val="75000"/>
                </a:schemeClr>
              </a:solidFill>
              <a:highlight>
                <a:srgbClr val="FFFFFF"/>
              </a:highlight>
              <a:latin typeface="Calibri" panose="020F0502020204030204" charset="0"/>
              <a:cs typeface="Calibri" panose="020F050202020403020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5"/>
          <p:cNvSpPr txBox="1"/>
          <p:nvPr>
            <p:ph type="sldNum" idx="12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2500" lnSpcReduction="20000"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sp>
        <p:nvSpPr>
          <p:cNvPr id="169" name="Google Shape;169;p25"/>
          <p:cNvSpPr txBox="1"/>
          <p:nvPr>
            <p:ph type="title"/>
          </p:nvPr>
        </p:nvSpPr>
        <p:spPr>
          <a:xfrm>
            <a:off x="1366800" y="2007000"/>
            <a:ext cx="6410400" cy="11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GB" sz="6500"/>
              <a:t>Thank you!</a:t>
            </a:r>
            <a:endParaRPr sz="650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586*224"/>
  <p:tag name="TABLE_ENDDRAG_RECT" val="65*77*586*224"/>
</p:tagLst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D5D5D"/>
      </a:dk2>
      <a:lt2>
        <a:srgbClr val="DADADA"/>
      </a:lt2>
      <a:accent1>
        <a:srgbClr val="58ADC5"/>
      </a:accent1>
      <a:accent2>
        <a:srgbClr val="8AC6D6"/>
      </a:accent2>
      <a:accent3>
        <a:srgbClr val="CDE6EE"/>
      </a:accent3>
      <a:accent4>
        <a:srgbClr val="EA5B25"/>
      </a:accent4>
      <a:accent5>
        <a:srgbClr val="F08C66"/>
      </a:accent5>
      <a:accent6>
        <a:srgbClr val="F9CEBE"/>
      </a:accent6>
      <a:hlink>
        <a:srgbClr val="58ADC5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1406</Words>
  <Application>WPS Presentation</Application>
  <PresentationFormat/>
  <Paragraphs>144</Paragraphs>
  <Slides>8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2" baseType="lpstr">
      <vt:lpstr>Arial</vt:lpstr>
      <vt:lpstr>SimSun</vt:lpstr>
      <vt:lpstr>Wingdings</vt:lpstr>
      <vt:lpstr>Arial</vt:lpstr>
      <vt:lpstr>Assistant</vt:lpstr>
      <vt:lpstr>Roboto Mono</vt:lpstr>
      <vt:lpstr>Microsoft YaHei</vt:lpstr>
      <vt:lpstr>Arial Unicode MS</vt:lpstr>
      <vt:lpstr>Wingdings</vt:lpstr>
      <vt:lpstr>Arial Black</vt:lpstr>
      <vt:lpstr>Algerian</vt:lpstr>
      <vt:lpstr>Calibri</vt:lpstr>
      <vt:lpstr>Simple Light</vt:lpstr>
      <vt:lpstr>Word.Document.12</vt:lpstr>
      <vt:lpstr>PowerPoint 演示文稿</vt:lpstr>
      <vt:lpstr>Project description  </vt:lpstr>
      <vt:lpstr>Why I Chose This Project  </vt:lpstr>
      <vt:lpstr>PROJECT FEATURES   </vt:lpstr>
      <vt:lpstr>TECHNOLOGIES USED   </vt:lpstr>
      <vt:lpstr>DEVELOPMENT PROCESS   </vt:lpstr>
      <vt:lpstr>CHALLENGES &amp; SOLUTIONS   </vt:lpstr>
      <vt:lpstr>Thank you!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Muhammad Sarfraz Ahmed</cp:lastModifiedBy>
  <cp:revision>2</cp:revision>
  <dcterms:created xsi:type="dcterms:W3CDTF">2026-05-25T23:01:56Z</dcterms:created>
  <dcterms:modified xsi:type="dcterms:W3CDTF">2026-05-25T23:08:54Z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A7949EA9D1C647F5994ABDF695992C3A_13</vt:lpwstr>
  </property>
  <property fmtid="{D5CDD505-2E9C-101B-9397-08002B2CF9AE}" pid="3" name="KSOProductBuildVer">
    <vt:lpwstr>2057-12.2.0.23202</vt:lpwstr>
  </property>
</Properties>
</file>